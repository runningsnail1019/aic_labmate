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ac7a5857374d9a" /><Relationship Type="http://schemas.openxmlformats.org/officeDocument/2006/relationships/extended-properties" Target="/docProps/app.xml" Id="R133d9ad29ce1440f" /><Relationship Type="http://schemas.openxmlformats.org/officeDocument/2006/relationships/officeDocument" Target="/ppt/presentation.xml" Id="Rb9e3230deca44c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987c9d46b44cc"/>
  </p:sldMasterIdLst>
  <p:notesMasterIdLst>
    <p:notesMasterId xmlns:r="http://schemas.openxmlformats.org/officeDocument/2006/relationships" r:id="R546a65eb0cc944db"/>
  </p:notesMasterIdLst>
  <p:sldIdLst>
    <p:sldId xmlns:r="http://schemas.openxmlformats.org/officeDocument/2006/relationships" id="256" r:id="Rf760769dd1fb4d8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c210c93e874fff" /><Relationship Type="http://schemas.openxmlformats.org/officeDocument/2006/relationships/slideMaster" Target="/ppt/slideMasters/slideMaster1.xml" Id="R860987c9d46b44cc" /><Relationship Type="http://schemas.openxmlformats.org/officeDocument/2006/relationships/notesMaster" Target="/ppt/notesMasters/notesMaster1.xml" Id="R546a65eb0cc944db" /><Relationship Type="http://schemas.openxmlformats.org/officeDocument/2006/relationships/presProps" Target="/ppt/presProps.xml" Id="R3021794a87124d9b" /><Relationship Type="http://schemas.openxmlformats.org/officeDocument/2006/relationships/tableStyles" Target="/ppt/tableStyles.xml" Id="R620176a0e26645e9" /><Relationship Type="http://schemas.openxmlformats.org/officeDocument/2006/relationships/slide" Target="/ppt/slides/slide1.xml" Id="Rf760769dd1fb4d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1c0c2e3b4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53a1aca824456" /><Relationship Type="http://schemas.openxmlformats.org/officeDocument/2006/relationships/notesMaster" Target="/ppt/notesMasters/notesMaster1.xml" Id="R986717069fc24d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根据用户提供的参考图重建。所有主要图形元素均为原生可编辑形状、文本框、连接线与散点椭圆。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fb5fd0b11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0e8d822ac476a" /><Relationship Type="http://schemas.openxmlformats.org/officeDocument/2006/relationships/slideLayout" Target="/ppt/slideLayouts/slideLayout1.xml" Id="Rdce017cf82ac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017cf82ac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0e0f2b5a94109" /><Relationship Type="http://schemas.openxmlformats.org/officeDocument/2006/relationships/notesSlide" Target="/ppt/notesSlides/notesSlide1.xml" Id="R1c708ecfe1d649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5F3FC05-AF54-46BE-A084-0253290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" y="3510865"/>
            <a:ext cx="7426429" cy="2643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14288">
            <a:solidFill>
              <a:srgbClr val="2F86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D496D-16A7-420E-8ABD-D5401AF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9" y="3532180"/>
            <a:ext cx="6032375" cy="221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Conditional distribution learning and inference framework based on conditionally deterministic mappings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1C94E-2A9A-4035-95D2-D30BB0B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" y="3834865"/>
            <a:ext cx="3376425" cy="2933056"/>
          </a:xfrm>
          <a:prstGeom xmlns:a="http://schemas.openxmlformats.org/drawingml/2006/main" prst="roundRect">
            <a:avLst>
              <a:gd name="adj" fmla="val 4546"/>
            </a:avLst>
          </a:prstGeom>
          <a:solidFill xmlns:a="http://schemas.openxmlformats.org/drawingml/2006/main">
            <a:srgbClr val="EDF6FE"/>
          </a:solidFill>
          <a:ln xmlns:a="http://schemas.openxmlformats.org/drawingml/2006/main" w="14288">
            <a:solidFill>
              <a:srgbClr val="2D8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1ED3A-2A44-4D88-B243-F639F191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" y="3834865"/>
            <a:ext cx="3376425" cy="1961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3C6"/>
          </a:solidFill>
          <a:ln xmlns:a="http://schemas.openxmlformats.org/drawingml/2006/main" w="0">
            <a:solidFill>
              <a:srgbClr val="2D83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9681E-5C72-4F34-B663-CF00219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" y="3932918"/>
            <a:ext cx="3376425" cy="98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C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0926C-26BE-4B26-9D6D-654DA6BA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42" y="3847654"/>
            <a:ext cx="3291161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Stage 1: Deterministic latent variable–response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DD6AC-738D-49C9-8415-3682980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319" y="3834865"/>
            <a:ext cx="1799055" cy="2933056"/>
          </a:xfrm>
          <a:prstGeom xmlns:a="http://schemas.openxmlformats.org/drawingml/2006/main" prst="roundRect">
            <a:avLst>
              <a:gd name="adj" fmla="val 7412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14288">
            <a:solidFill>
              <a:srgbClr val="29A9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540EA-A0D2-462B-B49D-8B20CAF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319" y="3834865"/>
            <a:ext cx="1799055" cy="1961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A984"/>
          </a:solidFill>
          <a:ln xmlns:a="http://schemas.openxmlformats.org/drawingml/2006/main" w="0">
            <a:solidFill>
              <a:srgbClr val="29A98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10AE3-BE33-4D87-82EE-FD85A15A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319" y="3932918"/>
            <a:ext cx="1799055" cy="98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5741E-A86C-4D9C-A381-DD23E93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951" y="3847654"/>
            <a:ext cx="1713791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Stage 2: Latent variable distribution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70E11-B667-4479-965E-0CF48336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058" y="3834865"/>
            <a:ext cx="2131581" cy="2933056"/>
          </a:xfrm>
          <a:prstGeom xmlns:a="http://schemas.openxmlformats.org/drawingml/2006/main" prst="roundRect">
            <a:avLst>
              <a:gd name="adj" fmla="val 625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EE7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52138-DCA3-4F29-A4B3-78E7BB13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058" y="3834865"/>
            <a:ext cx="2131581" cy="1961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7E44"/>
          </a:solidFill>
          <a:ln xmlns:a="http://schemas.openxmlformats.org/drawingml/2006/main" w="0">
            <a:solidFill>
              <a:srgbClr val="EE7E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309DB-8244-48AB-8CA7-5E3B672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058" y="3932918"/>
            <a:ext cx="2131581" cy="98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E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6E712-B8AF-4AA5-96CE-87A97265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690" y="3847654"/>
            <a:ext cx="2046318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Stage 3: Conditional distribution evaluation and 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DA25E-02A1-4B6B-9195-09B7EDD9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42" y="4077865"/>
            <a:ext cx="3129161" cy="14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Jointly train encoder and decoder to learn the condition-dependent deterministic map  Tₓ(ξ)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6C0D9-EEB7-45F1-9CB6-1A37A75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1" y="4278234"/>
            <a:ext cx="3205898" cy="844106"/>
          </a:xfrm>
          <a:prstGeom xmlns:a="http://schemas.openxmlformats.org/drawingml/2006/main" prst="roundRect">
            <a:avLst>
              <a:gd name="adj" fmla="val 1579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A7CE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BA6E4-30B4-45A8-9E51-A2ACDB5B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58" y="4316602"/>
            <a:ext cx="1065791" cy="1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Conditional encoding and posterior inference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37929-5CE3-406D-8BF5-4AA125F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32" y="4474339"/>
            <a:ext cx="213158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844E3-53E4-46BC-A109-C2D6E69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16" y="4615024"/>
            <a:ext cx="532895" cy="20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(Preprocessing / feature mapping</a:t>
            </a:r>
          </a:p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 ϕ(X))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BB9FF-9297-47DB-928E-2BAAE41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58" y="4909182"/>
            <a:ext cx="170526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BACA5-6868-44C2-B267-3F97AA1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9" y="4448760"/>
            <a:ext cx="613895" cy="605369"/>
          </a:xfrm>
          <a:custGeom xmlns:a="http://schemas.openxmlformats.org/drawingml/2006/main">
            <a:pathLst>
              <a:path w="613895" h="605369">
                <a:moveTo>
                  <a:pt x="0" y="0"/>
                </a:moveTo>
                <a:lnTo>
                  <a:pt x="613895" y="140684"/>
                </a:lnTo>
                <a:lnTo>
                  <a:pt x="613895" y="464685"/>
                </a:lnTo>
                <a:lnTo>
                  <a:pt x="0" y="605369"/>
                </a:lnTo>
                <a:close/>
              </a:path>
            </a:pathLst>
          </a:custGeom>
          <a:solidFill xmlns:a="http://schemas.openxmlformats.org/drawingml/2006/main">
            <a:srgbClr val="8EC0EA"/>
          </a:solidFill>
          <a:ln xmlns:a="http://schemas.openxmlformats.org/drawingml/2006/main" w="11430">
            <a:solidFill>
              <a:srgbClr val="5D9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2FD80-E7F1-47CF-9055-3E42E90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22" y="4602234"/>
            <a:ext cx="579790" cy="25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qψ(ξ|X, y)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1A53A-1E96-4D39-893A-0F29DCB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1" y="4559602"/>
            <a:ext cx="19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D658B-88BC-4EDA-B9C9-DC4CF7B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1" y="4951813"/>
            <a:ext cx="19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4C992-6B50-4DEE-BB4B-7ACA48E7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65" y="4521234"/>
            <a:ext cx="409264" cy="153474"/>
          </a:xfrm>
          <a:prstGeom xmlns:a="http://schemas.openxmlformats.org/drawingml/2006/main" prst="roundRect">
            <a:avLst>
              <a:gd name="adj" fmla="val 37238"/>
            </a:avLst>
          </a:prstGeom>
          <a:solidFill xmlns:a="http://schemas.openxmlformats.org/drawingml/2006/main">
            <a:srgbClr val="D8EAFE"/>
          </a:solidFill>
          <a:ln xmlns:a="http://schemas.openxmlformats.org/drawingml/2006/main" w="9525">
            <a:solidFill>
              <a:srgbClr val="7EB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123AE-E2D6-48B0-A393-062CAA5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17" y="4529760"/>
            <a:ext cx="375158" cy="136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mψ(X, y)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FF9BC-1B75-4C11-AFE1-37BE7370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65" y="4794076"/>
            <a:ext cx="409264" cy="153474"/>
          </a:xfrm>
          <a:prstGeom xmlns:a="http://schemas.openxmlformats.org/drawingml/2006/main" prst="roundRect">
            <a:avLst>
              <a:gd name="adj" fmla="val 37238"/>
            </a:avLst>
          </a:prstGeom>
          <a:solidFill xmlns:a="http://schemas.openxmlformats.org/drawingml/2006/main">
            <a:srgbClr val="D8EAFE"/>
          </a:solidFill>
          <a:ln xmlns:a="http://schemas.openxmlformats.org/drawingml/2006/main" w="9525">
            <a:solidFill>
              <a:srgbClr val="7EB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BBAD6-8BF2-40F5-95EE-240C2BE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17" y="4802603"/>
            <a:ext cx="375158" cy="136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sψ(X, y)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66669-9EB7-4E26-908F-DD14B6F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65" y="4597971"/>
            <a:ext cx="153474" cy="76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C5E56-BF36-427E-9E14-FC105021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65" y="4815392"/>
            <a:ext cx="153474" cy="554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C3EF0-EE97-409D-88C5-28267DE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371" y="4516971"/>
            <a:ext cx="673580" cy="460422"/>
          </a:xfrm>
          <a:prstGeom xmlns:a="http://schemas.openxmlformats.org/drawingml/2006/main" prst="roundRect">
            <a:avLst>
              <a:gd name="adj" fmla="val 14481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0478">
            <a:solidFill>
              <a:srgbClr val="88BD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6B990-0B48-4766-8959-3FDA34E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76" y="4559602"/>
            <a:ext cx="605369" cy="37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Reparameterization sampling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ξ = mψ + sψ ⊙ ε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ε ∼ 𝓝(0, I)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A97A5-196D-402D-A240-95B9AE7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950" y="4755708"/>
            <a:ext cx="1193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24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C47F8-A093-41B5-872F-6C2B1D7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00" y="4646571"/>
            <a:ext cx="41149" cy="41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BC4EE3-3692-4703-836E-6453CC6C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797" y="4687008"/>
            <a:ext cx="38639" cy="38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7BA89-35A2-4B4B-A5E3-3126537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375" y="4791905"/>
            <a:ext cx="23734" cy="237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972D07-E918-422E-AB0C-C93DB11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651" y="4732473"/>
            <a:ext cx="44750" cy="4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484D3-5159-414B-BC31-D4D1AE39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729" y="4672133"/>
            <a:ext cx="47688" cy="47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A6B3B0-7533-4053-896F-159CFB8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715" y="4774307"/>
            <a:ext cx="46757" cy="46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3D5D0-E3EC-4E3F-8C78-B70CC17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820" y="4810204"/>
            <a:ext cx="22062" cy="22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F62247-7894-47CA-97BE-87B556C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48" y="4943246"/>
            <a:ext cx="21921" cy="21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8E0557-EB4A-4D52-934D-05B5634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016" y="4944643"/>
            <a:ext cx="26437" cy="26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CC6127-C6EE-4E63-8357-86E3B63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23" y="4585606"/>
            <a:ext cx="49822" cy="49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B8A8D4-7836-4259-AFED-84BD10C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686" y="4813977"/>
            <a:ext cx="38075" cy="38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A4129C-5223-42F5-83ED-ECD7CCD9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03" y="4616545"/>
            <a:ext cx="39512" cy="39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073F17-8C32-463B-B1D8-3EB98A6F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092" y="4941153"/>
            <a:ext cx="34239" cy="342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80A7C0-9253-485A-A22E-B314232F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657" y="4774589"/>
            <a:ext cx="36465" cy="36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D5BC27-4B6B-401E-BB33-C89C513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09" y="4672486"/>
            <a:ext cx="26297" cy="262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27CE79-0599-4AB9-96CD-AADDC5A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353" y="4798265"/>
            <a:ext cx="17945" cy="17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C7B83-D092-4AD8-AEB0-DD627BF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800" y="4923136"/>
            <a:ext cx="25619" cy="256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1DAC46-EA14-4267-A5A2-1E4B85B8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155" y="4818310"/>
            <a:ext cx="29425" cy="29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28EDBD-F78B-408F-B79C-08E6AE77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628" y="4647207"/>
            <a:ext cx="43573" cy="43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DEAD87-486B-4B69-86A3-212F2DE6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430" y="4573248"/>
            <a:ext cx="48168" cy="48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8B6326-D298-4CE3-A5F1-17652BE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666" y="4759856"/>
            <a:ext cx="23316" cy="23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6D8D07-0832-4A79-BADF-A9070CB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441" y="4586030"/>
            <a:ext cx="17332" cy="17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7B499E-7D54-47E7-AA90-065624C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072" y="4607400"/>
            <a:ext cx="44427" cy="444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99407B-2626-4577-BD9C-C2FACAAE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664" y="4595179"/>
            <a:ext cx="50601" cy="506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82FD90-851A-42B2-A627-3ECE932E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321" y="4712787"/>
            <a:ext cx="50065" cy="50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4361B1-FD36-49A9-A804-4877F063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55" y="4731434"/>
            <a:ext cx="22923" cy="229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CFDFBA-9552-4CE5-BD5A-5A5D3D8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675" y="4814542"/>
            <a:ext cx="17492" cy="174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456526-B03C-4CE0-9F80-E542F3DD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687" y="4733320"/>
            <a:ext cx="47982" cy="47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568C17-D2CF-4ED5-AA05-F5FC1ABB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503" y="4651191"/>
            <a:ext cx="26288" cy="26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FE3AFD-6975-41FB-B3DF-04D5852F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31" y="4731575"/>
            <a:ext cx="34830" cy="34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AA3D2C-E876-44D8-81C0-5EB7B6F8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72" y="4745683"/>
            <a:ext cx="19610" cy="19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5C0931-FCAD-4FF2-8A1D-A535C3A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343" y="4856936"/>
            <a:ext cx="28942" cy="28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207B68-A4F5-4FCD-A8E8-4AFD8CD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48" y="4836543"/>
            <a:ext cx="42932" cy="42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033AEB-D432-4803-88DF-E9E82C8E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97" y="4847927"/>
            <a:ext cx="41685" cy="416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EC6DEC-3E5C-4327-B593-DF9212DE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196" y="4662298"/>
            <a:ext cx="39411" cy="39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916A55-7CA1-419B-861E-D6007A0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156" y="4835287"/>
            <a:ext cx="50322" cy="503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1FF7E9-2583-464D-85D6-F2EE7F29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182" y="4745895"/>
            <a:ext cx="20418" cy="20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F1B2A0-8015-4356-BC30-FC85E9B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89" y="4557542"/>
            <a:ext cx="32118" cy="3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51ED37-4AE0-4B6B-B5D2-FA3C5D1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378" y="4825860"/>
            <a:ext cx="31424" cy="314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73DB5E-BC20-4C49-8738-276D3BC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759" y="4929850"/>
            <a:ext cx="32545" cy="32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C50C2A-F3B0-4EB4-9548-488DAD0D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2" y="4640720"/>
            <a:ext cx="49693" cy="49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750C9C-FA8C-4F2C-83B8-CF667098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139" y="4906315"/>
            <a:ext cx="28867" cy="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9D55DC-3E1F-49A1-8134-6D389CE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49" y="4713422"/>
            <a:ext cx="18383" cy="183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D4AD9C-B915-4766-8DB0-0CC6D84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87" y="4617675"/>
            <a:ext cx="32452" cy="32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3F7A58-0104-437C-8FBE-0F77424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966" y="4782493"/>
            <a:ext cx="17074" cy="170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80A0F6-8D9C-49F4-80CC-947D032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584" y="4586877"/>
            <a:ext cx="20564" cy="20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406DB3-FDC7-4AB2-AB1E-3C05774E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952" y="4586458"/>
            <a:ext cx="23027" cy="23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4B7529-4627-4248-8F56-2221916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280" y="4944658"/>
            <a:ext cx="38675" cy="38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FDDC6B-6F51-4F4A-B907-A71C81FF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779" y="4648266"/>
            <a:ext cx="47612" cy="47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0EA236-52AA-4EC8-A90E-3AF5862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449" y="4645123"/>
            <a:ext cx="29944" cy="29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F2C7E1-87D5-4668-AB72-42A31664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12" y="4706442"/>
            <a:ext cx="33987" cy="339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12A6F19-959F-48CA-964E-7416A0C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461" y="4603431"/>
            <a:ext cx="39845" cy="398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69B975-CAAC-4AB7-99D8-B98B151E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013" y="4891723"/>
            <a:ext cx="27625" cy="2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4F588A0-F673-4ED3-A9F7-31434EE3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578" y="4558107"/>
            <a:ext cx="45641" cy="45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DEEAB7-EB15-496E-B806-C35ABE0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62" y="4942636"/>
            <a:ext cx="39894" cy="39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FBC72FD-E7AB-489B-8E38-62B77851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169" y="4639888"/>
            <a:ext cx="24594" cy="24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1DFD58-ADB2-4BB4-8842-63C5BCA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616" y="4597706"/>
            <a:ext cx="48058" cy="48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9CF7B8-3005-4D59-B82B-5405BC1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602" y="4587301"/>
            <a:ext cx="22179" cy="22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60A5FF-621E-4619-A2CA-64128AFA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38" y="4772093"/>
            <a:ext cx="29380" cy="29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6E655C-3645-4E3F-AA60-721F239A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035" y="4923293"/>
            <a:ext cx="49765" cy="49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A9C95E-FC48-456E-91BF-E8E54E0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903" y="4812111"/>
            <a:ext cx="29333" cy="29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8B3D844-DF27-4F3B-8FC3-81290D7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7" y="4601968"/>
            <a:ext cx="50508" cy="50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9D4265A-45B0-4773-A0BD-5D740ABC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78" y="4848497"/>
            <a:ext cx="25182" cy="25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6CD79A-27FD-4611-9AEE-9179C99E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795" y="4930697"/>
            <a:ext cx="35777" cy="35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1E0B16-FA94-467C-ADD8-E81DE19E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821" y="4619778"/>
            <a:ext cx="28293" cy="28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6C80317-A64D-4818-AA06-B533A641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755" y="4863583"/>
            <a:ext cx="51046" cy="51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89A8527-B8F1-4466-A322-F1CBBF1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807" y="4648901"/>
            <a:ext cx="50036" cy="50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3D239CC-F21D-4EE7-8173-3430F081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82" y="4923575"/>
            <a:ext cx="39473" cy="39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B7C634-CD53-406F-A7ED-28C6A721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98" y="4674393"/>
            <a:ext cx="33568" cy="33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3E1794-1366-4B54-973B-19058A7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252" y="4849198"/>
            <a:ext cx="46532" cy="465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66DD6C2-311E-4313-BA3E-AE28E26F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462" y="4826990"/>
            <a:ext cx="24364" cy="24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14210F2-C8E9-4CBD-BFAA-7498AAA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527" y="4771190"/>
            <a:ext cx="49486" cy="494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C88AC9-9BFB-48FF-989C-E82B3FD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763" y="4845219"/>
            <a:ext cx="33791" cy="337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67177A-55E9-4C59-9A7D-58C3873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76" y="4820287"/>
            <a:ext cx="25597" cy="25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D5627A-9E67-4E8D-A1AD-049310B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275" y="4859816"/>
            <a:ext cx="39113" cy="39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9DE66C-0028-4EF5-84CC-6087A7C0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867" y="4735015"/>
            <a:ext cx="20340" cy="20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0DE60A-F911-41A4-AD77-43C653F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261" y="4609307"/>
            <a:ext cx="17593" cy="17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FBEF32B-AF7C-4B32-B2ED-4E42DEB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563" y="4646112"/>
            <a:ext cx="45083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4DE309D-8B51-48CF-A58B-DA0609D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983" y="4616641"/>
            <a:ext cx="48810" cy="48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50DB41E-E833-440F-B39F-CA677AC7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732" y="4684314"/>
            <a:ext cx="42984" cy="42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653BAB8-BF27-4D9B-9D13-C5FFDCA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810" y="4620343"/>
            <a:ext cx="41816" cy="41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C8F5C02-FA45-4790-99CD-7ED03DE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39" y="4588148"/>
            <a:ext cx="25411" cy="25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666F35-4339-4697-A947-E4F88F8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217" y="4751151"/>
            <a:ext cx="42085" cy="42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6AC4BC-3FF8-41B1-B5C9-968BAC03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756" y="4880561"/>
            <a:ext cx="37838" cy="378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AD91E1-CD21-4353-B245-F6B2369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361" y="4747590"/>
            <a:ext cx="26881" cy="26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4C7912-14B2-4E9C-96ED-52528EEE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242" y="4907868"/>
            <a:ext cx="23423" cy="2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1A79699-D8AC-4382-92E2-AB4BE1F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09" y="4740397"/>
            <a:ext cx="41676" cy="41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4CB509-8880-4A91-A351-0566820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569" y="4800807"/>
            <a:ext cx="27640" cy="2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852F4E-CA98-4D14-ACF2-DC95A1F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332" y="4860310"/>
            <a:ext cx="29630" cy="29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3725CF-E5BD-4867-8DC8-CED57F2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02" y="4690115"/>
            <a:ext cx="27751" cy="27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7BC6C72-9C3D-4D42-86BC-9BB7E98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66" y="4930498"/>
            <a:ext cx="127895" cy="115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FC1F968-0B40-47E0-85D6-0DAB469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1" y="5190550"/>
            <a:ext cx="3205898" cy="989054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F4B26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1C4484B-09CD-4738-8CE5-99EC702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58" y="5224656"/>
            <a:ext cx="1236317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rPr>
              <a:t>Deterministic decoder  Tₓ(ξ)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7E92819-F515-4A64-ADD9-49CC4B1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48" y="5378130"/>
            <a:ext cx="349579" cy="234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(ϕ(X))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79DB3B-F2D3-4358-AC8D-29672B6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11" y="5847077"/>
            <a:ext cx="136421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86CABF9-6114-4F1B-BB82-85F96776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9" y="5399445"/>
            <a:ext cx="575527" cy="618159"/>
          </a:xfrm>
          <a:custGeom xmlns:a="http://schemas.openxmlformats.org/drawingml/2006/main">
            <a:pathLst>
              <a:path w="575527" h="618159">
                <a:moveTo>
                  <a:pt x="0" y="0"/>
                </a:moveTo>
                <a:lnTo>
                  <a:pt x="575527" y="144948"/>
                </a:lnTo>
                <a:lnTo>
                  <a:pt x="575527" y="468948"/>
                </a:lnTo>
                <a:lnTo>
                  <a:pt x="0" y="618159"/>
                </a:lnTo>
                <a:close/>
              </a:path>
            </a:pathLst>
          </a:custGeom>
          <a:solidFill xmlns:a="http://schemas.openxmlformats.org/drawingml/2006/main">
            <a:srgbClr val="FFB480"/>
          </a:solidFill>
          <a:ln xmlns:a="http://schemas.openxmlformats.org/drawingml/2006/main" w="12383">
            <a:solidFill>
              <a:srgbClr val="D96A2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7806410-0B66-47F2-8012-8BC21A88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5" y="5557182"/>
            <a:ext cx="532895" cy="247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  <a:p xmlns:a="http://schemas.openxmlformats.org/drawingml/2006/main">
            <a:pPr algn="ctr">
              <a:def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rPr>
              <a:t>Tₓ(ξ)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C00A084-CF78-4E65-96B2-DF45469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1" y="5523077"/>
            <a:ext cx="19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53758C-1057-4349-AC95-D6D3965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1" y="5902499"/>
            <a:ext cx="19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1038BD3-7521-4E49-93C8-181484E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0" y="5254498"/>
            <a:ext cx="609632" cy="234474"/>
          </a:xfrm>
          <a:prstGeom xmlns:a="http://schemas.openxmlformats.org/drawingml/2006/main" prst="roundRect">
            <a:avLst>
              <a:gd name="adj" fmla="val 2437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9716F4C-20A1-4B6A-B171-40AAC06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86" y="5280077"/>
            <a:ext cx="567001" cy="187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Position field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μθ(ϕ(X))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CF7C068-D2A8-47D4-9E89-4FDC6081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0" y="5548656"/>
            <a:ext cx="609632" cy="234474"/>
          </a:xfrm>
          <a:prstGeom xmlns:a="http://schemas.openxmlformats.org/drawingml/2006/main" prst="roundRect">
            <a:avLst>
              <a:gd name="adj" fmla="val 2437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0626FE1-DBA1-4211-AD36-5C15470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86" y="5574235"/>
            <a:ext cx="567001" cy="187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Transport field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Sθ(ϕ(X))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453BF9F-A94F-4CDC-9781-B794AF51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0" y="5842814"/>
            <a:ext cx="609632" cy="234474"/>
          </a:xfrm>
          <a:prstGeom xmlns:a="http://schemas.openxmlformats.org/drawingml/2006/main" prst="roundRect">
            <a:avLst>
              <a:gd name="adj" fmla="val 2437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0072AC3-A807-4738-B80C-2CA8AE4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86" y="5868393"/>
            <a:ext cx="567001" cy="187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Latent deformation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Γθ(ξ)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38E2BE-30C0-49CC-ADD5-838B8F1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96" y="5373866"/>
            <a:ext cx="144948" cy="289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F8A2B68-286F-4A87-B0A9-D1A1C24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96" y="5663762"/>
            <a:ext cx="1449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8B3853B-D7E0-4943-AF51-605BBCE0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96" y="5663762"/>
            <a:ext cx="144948" cy="2941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D3FF132-36E8-49D6-B257-A2849546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02" y="5369603"/>
            <a:ext cx="7673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0C10A77-3B4F-4218-9ED2-FE2C9C0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739" y="5369603"/>
            <a:ext cx="953" cy="592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6BB74A8-E2F3-44C3-83DD-BBE3315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02" y="5663762"/>
            <a:ext cx="7673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716959A-9D69-4945-8590-577AA454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02" y="5957920"/>
            <a:ext cx="7673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15584C6-0986-4B2B-B6A6-263582C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739" y="5621130"/>
            <a:ext cx="127895" cy="1278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7B4C26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3FB529B-ACC8-4551-A64F-71658394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65" y="5621130"/>
            <a:ext cx="115105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7B4C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7B4C26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1148DAD-24C6-4698-B8CC-78A6A33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634" y="5685077"/>
            <a:ext cx="14068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2243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2AFE98F-23BB-47F3-8ACB-0E6C453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634" y="5625393"/>
            <a:ext cx="562737" cy="127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ŷ = Tₓ(ξ)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6FE5CBA-A481-4103-AE57-8787D10D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958" y="5605500"/>
            <a:ext cx="33413" cy="33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EB67657-48F6-4B68-8190-1E3880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711" y="5519391"/>
            <a:ext cx="17482" cy="174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D2026A4-BD5D-4E53-89A0-CC071854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74" y="5799066"/>
            <a:ext cx="17577" cy="17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C507AD0-4520-4D56-8C86-308857BF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040" y="5864024"/>
            <a:ext cx="47909" cy="47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B6C670A-3108-457D-A9FF-0F91D5C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142" y="5867027"/>
            <a:ext cx="20373" cy="2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369C878-6434-4685-8CF1-6BB990E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343" y="5594208"/>
            <a:ext cx="17389" cy="17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23AC2E1-7630-449B-A0F6-5E36CB3B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74" y="5564961"/>
            <a:ext cx="19063" cy="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DDF99BF-52E9-4425-816E-D3C26DEA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567" y="5565419"/>
            <a:ext cx="39606" cy="39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46F58BB-9E42-4BD5-914D-5EC665C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7" y="5748343"/>
            <a:ext cx="25017" cy="25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ECD99D1-3F8E-4E16-A7D1-5DA31DF7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922" y="5533234"/>
            <a:ext cx="23612" cy="23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0D7FBE9-A89C-4465-973A-494A8E1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380" y="5806120"/>
            <a:ext cx="49602" cy="49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7F7AEF8-B523-4730-894A-5C4F7078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252" y="5619866"/>
            <a:ext cx="48986" cy="48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F70BF17-F65B-4B21-A578-DC682A4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406" y="5860502"/>
            <a:ext cx="35976" cy="359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8C98E61-0583-49BF-BB6C-50E7DF7A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02" y="5580893"/>
            <a:ext cx="24782" cy="24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3C734C5-32CE-4A22-9FDB-E3DC1651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5" y="5667067"/>
            <a:ext cx="29614" cy="29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771D26E-0D06-49CA-BCB7-2234000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884" y="5538525"/>
            <a:ext cx="30578" cy="30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367B30D-9DF4-4D53-ABBB-98591711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696" y="5714660"/>
            <a:ext cx="41883" cy="41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A45E339-B46D-4EB1-BF68-A686F9C1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08" y="5614972"/>
            <a:ext cx="43636" cy="43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CFC2B2D-C579-427A-A544-1AA445E7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749" y="5758857"/>
            <a:ext cx="50047" cy="500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3EC396E-DD00-4EDF-9183-537E1DE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253" y="5565815"/>
            <a:ext cx="41222" cy="41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D9ADF0A-2D74-4D54-88D7-9DD7CFC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513" y="5555239"/>
            <a:ext cx="31369" cy="31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85F4667-70D3-414C-A9E1-5B47472C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661" y="5879894"/>
            <a:ext cx="34701" cy="34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6A54DFA-234F-4392-A9B1-0CC6EF9E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828" y="5592647"/>
            <a:ext cx="31323" cy="313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A0FF380-E81B-42D8-B904-535FB59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411" y="5579526"/>
            <a:ext cx="35444" cy="35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9EF2F0B-A9AD-455E-B20C-A329E6E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08" y="5626661"/>
            <a:ext cx="27171" cy="271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E91AB58-10E9-4DAF-B094-A5554E1D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082" y="5520184"/>
            <a:ext cx="20714" cy="207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9A2BFA7-454A-409E-9E0E-32F49893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697" y="5779490"/>
            <a:ext cx="30282" cy="302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08264CB-7024-4BA5-A6B8-CBE5334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885" y="5824079"/>
            <a:ext cx="35983" cy="35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44D33AF-4789-4580-944D-97A9239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040" y="5806714"/>
            <a:ext cx="17920" cy="17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8BA35E9-E98A-4248-8E8F-55246FE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662" y="5880158"/>
            <a:ext cx="24410" cy="24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91B7373-AF3C-4820-B07E-46EB8F43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514" y="5830543"/>
            <a:ext cx="35558" cy="355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96D9E03-A9CD-4B33-BBD7-51234CC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359" y="5810632"/>
            <a:ext cx="31469" cy="3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A03DA7C-A703-49FF-B884-538BE6C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330" y="5606556"/>
            <a:ext cx="26354" cy="26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59A4B95-DFE8-4B4B-B7FB-BB5C69D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188" y="5737711"/>
            <a:ext cx="34422" cy="34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8A9BE2A-FC4E-437C-98FD-B36D801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067" y="5623596"/>
            <a:ext cx="35781" cy="35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BF24E11-8907-4F87-877C-1543A336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360" y="5783606"/>
            <a:ext cx="44639" cy="44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8B2A9A5-B916-4B8C-9DF9-8E95992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67" y="5637241"/>
            <a:ext cx="41103" cy="411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600428-BC59-400A-9405-FB6AEE9D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84" y="5703896"/>
            <a:ext cx="39382" cy="39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0187A9E-0BAA-476A-B4B9-3E0B663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409" y="5769702"/>
            <a:ext cx="19582" cy="19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4F53083-20E2-4708-B34C-73FA939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307" y="5620790"/>
            <a:ext cx="30020" cy="3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BC2A9F3-74DF-478B-A686-E24661A6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173" y="5776557"/>
            <a:ext cx="50799" cy="507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448F516-5735-4A72-B308-E4BF7812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505" y="5656501"/>
            <a:ext cx="27921" cy="27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576A77B-27DE-4513-B0CD-A535516B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067" y="5780018"/>
            <a:ext cx="43805" cy="438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21B6CF8-270B-4405-9666-281B1FB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623" y="5566607"/>
            <a:ext cx="44453" cy="4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DF69111-1EDE-43B0-BC46-947E263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936" y="5535663"/>
            <a:ext cx="44075" cy="44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8CD439B-A3C5-4AF4-B395-742ED33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505" y="5839949"/>
            <a:ext cx="22775" cy="22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7DA794C-180D-4A21-9365-300AEA2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726" y="5532334"/>
            <a:ext cx="28870" cy="28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6A1E7C-7D69-4A7B-8E47-0BAE2586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098" y="5865476"/>
            <a:ext cx="42465" cy="42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ED7B325-F497-4E00-BB1A-D64A433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647" y="5525610"/>
            <a:ext cx="43666" cy="43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FF86E02-0D6E-4CF7-8862-C800F5D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43" y="5765397"/>
            <a:ext cx="46682" cy="4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D8995DD-D626-4B9C-AD37-711B3088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911" y="5637703"/>
            <a:ext cx="31619" cy="316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3D94661-DFDB-4DE1-A872-54DA8A83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51" y="5661923"/>
            <a:ext cx="46793" cy="46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93BEF04-1A37-4FA1-8D92-ECDA6BF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27" y="5624190"/>
            <a:ext cx="38204" cy="38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1FAFFF6-013A-4F38-9430-53FDDA57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770" y="5677266"/>
            <a:ext cx="20063" cy="20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6BEF13F-1412-4F96-A998-CCA869B9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042" y="5607282"/>
            <a:ext cx="40684" cy="40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82D9A24-4A5D-4243-A7E7-B474C7B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41" y="5567003"/>
            <a:ext cx="46069" cy="46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C7956F4-0E3C-4B7A-B8F2-D10EC63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332" y="5709190"/>
            <a:ext cx="50427" cy="504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883CA9D-3907-45D1-8D47-39C707C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244" y="5819977"/>
            <a:ext cx="33865" cy="33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DB18DF3-0DB0-4E6E-AF81-0DFB571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543" y="5685493"/>
            <a:ext cx="44697" cy="44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4FFFC68-8626-49BE-A8B4-0CC388D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257" y="5825135"/>
            <a:ext cx="28923" cy="289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A4E64F5-E378-45A4-8CE6-EBC2705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517" y="5658401"/>
            <a:ext cx="34861" cy="34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9E76061-9663-4BE2-986B-AF51C9E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455" y="5704688"/>
            <a:ext cx="42614" cy="42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FEB6EEA-C8B6-468E-A64B-958EE8C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201" y="5750125"/>
            <a:ext cx="32288" cy="32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D65726A-0CFD-42D4-B22E-791C2A8E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152" y="5580846"/>
            <a:ext cx="18093" cy="180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5A68F71-D54B-4912-8303-A42C2F2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438" y="5716244"/>
            <a:ext cx="48347" cy="48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3B20FBF-0EC9-45A6-9BC9-D6009DA7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823" y="5575820"/>
            <a:ext cx="34942" cy="34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59D8EFF-7237-4E8B-B8C4-50DB8DA2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39" y="5678968"/>
            <a:ext cx="26195" cy="2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12AD802-B33B-462D-833F-FEE5AEC6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416" y="5811820"/>
            <a:ext cx="36316" cy="36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2098CCC-D271-49CD-89C9-8D830DF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149" y="5760508"/>
            <a:ext cx="45411" cy="45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654820C-EC38-49D8-9997-82CBFCD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139" y="5677794"/>
            <a:ext cx="33586" cy="335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D771DB1-0F72-49D8-9AF7-0B5D8C1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13" y="5716442"/>
            <a:ext cx="49154" cy="4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EA19F96-8C2C-460C-8A56-281BE90E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37" y="5662584"/>
            <a:ext cx="38118" cy="38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6E5A66B-AE68-4255-A454-B7A8049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76" y="5668982"/>
            <a:ext cx="48792" cy="48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4B5C506-E2D7-4EBF-90BA-19FD6DF0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824" y="5521768"/>
            <a:ext cx="27177" cy="271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5ACBB75-2C29-4BE7-9E56-A154990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13" y="5740337"/>
            <a:ext cx="21588" cy="215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4FE9DD3-D7CE-480F-BED2-F53DF1C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206" y="5744189"/>
            <a:ext cx="46236" cy="462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ECD660D-ECC0-49D0-8D5F-4A9200B3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03" y="5686087"/>
            <a:ext cx="47120" cy="47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CC0C9C2-B97C-4DED-A2B4-4792CC7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667" y="5718795"/>
            <a:ext cx="38452" cy="38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6CB5514-602A-489E-9D41-059E98E9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993" y="5628443"/>
            <a:ext cx="34442" cy="34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AD99351-3589-45F4-BC1F-CC277161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312" y="5567795"/>
            <a:ext cx="49300" cy="4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4650539-E110-4C13-BDB5-06ABD9CB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756" y="5689614"/>
            <a:ext cx="29027" cy="29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68C4B19-A35E-46B3-B606-4727A01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088" y="5780032"/>
            <a:ext cx="21938" cy="21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BA17D9A-47A2-489B-AE54-AA33CDDF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40" y="5625180"/>
            <a:ext cx="42244" cy="42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90272C4-CB01-4C5B-93AB-1D39832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75" y="5744453"/>
            <a:ext cx="35944" cy="35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9668B4B-4D43-46F9-A807-9D74C31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56" y="5557351"/>
            <a:ext cx="17250" cy="1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C008E2E-5879-4CBB-863B-61DB6D7E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615" y="5583269"/>
            <a:ext cx="34477" cy="34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B67ECC4-F54F-49AB-A845-AC671396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14" y="5608338"/>
            <a:ext cx="33625" cy="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92575D9-4003-4B29-A024-CB5CCAF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418" y="5785322"/>
            <a:ext cx="28904" cy="28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5242165-8785-421D-B1E2-69A624DE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25" y="5533720"/>
            <a:ext cx="34525" cy="3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6D6451F-1150-4960-9026-E76F1AC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931" y="5739559"/>
            <a:ext cx="30594" cy="30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1A878BE-C6CD-46DF-9E38-2312FF7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11" y="6222236"/>
            <a:ext cx="2408687" cy="477474"/>
          </a:xfrm>
          <a:prstGeom xmlns:a="http://schemas.openxmlformats.org/drawingml/2006/main" prst="roundRect">
            <a:avLst>
              <a:gd name="adj" fmla="val 27928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8D79C9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3FBE97B-21AA-4EFE-8E67-EC89C08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9" y="6264867"/>
            <a:ext cx="682106" cy="106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1">
                <a:solidFill>
                  <a:srgbClr val="6351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63519D"/>
                </a:solidFill>
                <a:latin typeface="Times New Roman"/>
                <a:ea typeface="Times New Roman"/>
                <a:cs typeface="Times New Roman"/>
              </a:rPr>
              <a:t>Joint training objective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8896F8C-D035-4A01-AEAB-64352A2E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9" y="6409815"/>
            <a:ext cx="2280792" cy="183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ℒ(ψ, θ) =  1/B  ∑  ‖yᵢ − Tₓᵢ(ξᵢ)‖² +  λₖₗ/B  ∑∑  max[Dᵢ,ₖ, τ]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288651E-0475-4891-80A7-4AAFF90B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844" y="6179604"/>
            <a:ext cx="953" cy="42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5C49A8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9F6B1D6-85A5-439D-A77D-B169BF9B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8" y="6009078"/>
            <a:ext cx="953" cy="204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49A8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9CCB6B2-AC9E-4F07-90BD-D98AE066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793" y="6017604"/>
            <a:ext cx="953" cy="1961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49A8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656038D-5ABD-4FCD-8B9E-1CBD619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7" y="6460973"/>
            <a:ext cx="370895" cy="179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Backpropagation update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(ψ, θ)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419B455-1910-4919-B487-94CE3BE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62" y="4077865"/>
            <a:ext cx="1577370" cy="21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Use the trained encoder to construct an empirical latent ensemble for all samples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5297F4E-0A50-4B7E-B2F7-5D6C72D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793" y="4350708"/>
            <a:ext cx="1654107" cy="908054"/>
          </a:xfrm>
          <a:prstGeom xmlns:a="http://schemas.openxmlformats.org/drawingml/2006/main" prst="roundRect">
            <a:avLst>
              <a:gd name="adj" fmla="val 14685"/>
            </a:avLst>
          </a:prstGeom>
          <a:solidFill xmlns:a="http://schemas.openxmlformats.org/drawingml/2006/main">
            <a:srgbClr val="F9FFFC"/>
          </a:solidFill>
          <a:ln xmlns:a="http://schemas.openxmlformats.org/drawingml/2006/main" w="11430">
            <a:solidFill>
              <a:srgbClr val="64C4A4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4451D40-FE8A-44F5-B06A-C1247F9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583" y="4418918"/>
            <a:ext cx="1458002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Trained encoder (frozen)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2CED0FC-36CE-462D-BCB6-69B728A4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741" y="4666182"/>
            <a:ext cx="264316" cy="183316"/>
          </a:xfrm>
          <a:prstGeom xmlns:a="http://schemas.openxmlformats.org/drawingml/2006/main" prst="roundRect">
            <a:avLst>
              <a:gd name="adj" fmla="val 3117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99608898-4DFE-4908-82CC-A7E5A290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793" y="4700287"/>
            <a:ext cx="230211" cy="1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Xᵢ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88A75BF-55B7-4C1D-B890-FA42C19B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741" y="4875076"/>
            <a:ext cx="264316" cy="183316"/>
          </a:xfrm>
          <a:prstGeom xmlns:a="http://schemas.openxmlformats.org/drawingml/2006/main" prst="roundRect">
            <a:avLst>
              <a:gd name="adj" fmla="val 3117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35C1E90-F082-4A3E-85F3-A90C1E9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793" y="4909182"/>
            <a:ext cx="230211" cy="1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yᵢ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EF340F8-8695-4BD8-8478-C0D2152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004" y="4551076"/>
            <a:ext cx="571264" cy="622422"/>
          </a:xfrm>
          <a:custGeom xmlns:a="http://schemas.openxmlformats.org/drawingml/2006/main">
            <a:pathLst>
              <a:path w="571264" h="622422">
                <a:moveTo>
                  <a:pt x="0" y="0"/>
                </a:moveTo>
                <a:lnTo>
                  <a:pt x="571264" y="123632"/>
                </a:lnTo>
                <a:lnTo>
                  <a:pt x="571264" y="422053"/>
                </a:lnTo>
                <a:lnTo>
                  <a:pt x="0" y="622422"/>
                </a:lnTo>
                <a:close/>
              </a:path>
            </a:pathLst>
          </a:custGeom>
          <a:solidFill xmlns:a="http://schemas.openxmlformats.org/drawingml/2006/main">
            <a:srgbClr val="8EC0EA"/>
          </a:solidFill>
          <a:ln xmlns:a="http://schemas.openxmlformats.org/drawingml/2006/main" w="11430">
            <a:solidFill>
              <a:srgbClr val="5D92C4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D7563F7-190A-4B40-8554-A553048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46" y="4717339"/>
            <a:ext cx="532895" cy="234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qψ(ξ|X, y)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6DD3C54-16BA-40E4-8080-4A21814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057" y="4755708"/>
            <a:ext cx="1364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2243C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F8C8027-A8C6-41F1-8444-C2FFA4EC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057" y="4964603"/>
            <a:ext cx="1364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2243C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446BCB2-D2A9-46B6-B1FC-6A30B71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689" y="4777024"/>
            <a:ext cx="204632" cy="179053"/>
          </a:xfrm>
          <a:prstGeom xmlns:a="http://schemas.openxmlformats.org/drawingml/2006/main" prst="roundRect">
            <a:avLst>
              <a:gd name="adj" fmla="val 31918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B7E1E51-CB0E-4D54-9C7B-38F85D5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479" y="4811129"/>
            <a:ext cx="179053" cy="106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ξᵢ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11B8038-D686-4425-AAE4-4FE3490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68" y="4840971"/>
            <a:ext cx="1278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243C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02DD042-A9A3-4DF4-887C-5FCC4A88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16" y="4559602"/>
            <a:ext cx="59684" cy="59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AE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BA8AF8F-9393-4A9B-B14D-37E1DA0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16" y="4666182"/>
            <a:ext cx="59684" cy="59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1C8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DC6D2F8-F056-4869-919A-D88D49B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16" y="4772761"/>
            <a:ext cx="59684" cy="59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9ED7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EA2492A-371B-4C50-BD6E-8C4E4557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16" y="4879340"/>
            <a:ext cx="59684" cy="59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B8EA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B502E5C-CCDE-447C-9569-07C85880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215" y="5105287"/>
            <a:ext cx="511579" cy="106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i = 1, ⋯ , M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FE9459F-3368-48A6-8C4F-5F140CD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84" y="5263024"/>
            <a:ext cx="953" cy="1321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A984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D2F4735-6512-4726-947C-8BC3D0C7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793" y="5420761"/>
            <a:ext cx="1654107" cy="1244843"/>
          </a:xfrm>
          <a:prstGeom xmlns:a="http://schemas.openxmlformats.org/drawingml/2006/main" prst="roundRect">
            <a:avLst>
              <a:gd name="adj" fmla="val 10712"/>
            </a:avLst>
          </a:prstGeom>
          <a:solidFill xmlns:a="http://schemas.openxmlformats.org/drawingml/2006/main">
            <a:srgbClr val="FCFFFD"/>
          </a:solidFill>
          <a:ln xmlns:a="http://schemas.openxmlformats.org/drawingml/2006/main" w="11430">
            <a:solidFill>
              <a:srgbClr val="59B999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8075DCC-13C1-4261-88BB-F5B1C5BD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583" y="5484709"/>
            <a:ext cx="1458002" cy="127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Empirical latent ensemble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907D3F4-F516-45DE-8318-484174A3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688" y="6154025"/>
            <a:ext cx="64800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765322A-2DE4-441A-AB2A-B04D47CB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688" y="5693604"/>
            <a:ext cx="953" cy="4604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3DC8548-EC03-45D3-8008-E5AAD5A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62" y="6154025"/>
            <a:ext cx="170526" cy="174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A306F40-F925-4E0D-90BE-CDB857F4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117" y="6021939"/>
            <a:ext cx="24152" cy="24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8AADB65-9082-459C-A909-2A6587AC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700" y="5825815"/>
            <a:ext cx="17905" cy="179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014E28A-86B0-4D57-84E6-AAF8ACB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419" y="6000093"/>
            <a:ext cx="46632" cy="46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017DEF9-B9E2-428E-8E13-07E4E8E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80" y="5883272"/>
            <a:ext cx="22227" cy="22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E5C4657-25D8-4457-A361-27FEA6B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92" y="6067221"/>
            <a:ext cx="27112" cy="271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44C10A3-2700-425D-ADF3-935A8BCA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778" y="5890439"/>
            <a:ext cx="41391" cy="413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BB119A1-0871-4EDA-866F-DA95CEE6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47" y="5944796"/>
            <a:ext cx="45171" cy="451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F5EB5F8-349E-4A4A-A48C-17088CE2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205" y="5986580"/>
            <a:ext cx="18555" cy="18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34E9F19-4DE0-4AE2-947C-21224F3B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719" y="5772082"/>
            <a:ext cx="43966" cy="43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3D58AAF-F276-43A7-B5D0-A4077EEE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014" y="5893169"/>
            <a:ext cx="33298" cy="33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A755A7C-9B61-4F42-ACF9-2DA2375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80" y="6106131"/>
            <a:ext cx="34867" cy="34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C5B7A95-68EC-401B-9D6C-1DBC10B9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941" y="6167257"/>
            <a:ext cx="28778" cy="287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0418198-DB2E-498D-9E0F-1FB7DEE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864" y="5832837"/>
            <a:ext cx="29242" cy="29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5A70FE8-50A4-4E33-81E2-304443E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197" y="6112530"/>
            <a:ext cx="50469" cy="50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B8241BA-72FA-4315-BEA2-2619A4C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665" y="5927044"/>
            <a:ext cx="38459" cy="38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352037F-55AD-46DB-B322-81FDDB1B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835" y="5868250"/>
            <a:ext cx="41527" cy="41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0EB931B-1B86-4A5C-82F1-2D56A59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955" y="6110225"/>
            <a:ext cx="39780" cy="39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192F48B-2A9A-4438-96CB-AAB2422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590" y="5991470"/>
            <a:ext cx="47428" cy="474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23F632F-3B90-494F-8488-9D12D31E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09" y="6103853"/>
            <a:ext cx="44576" cy="44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A4F1D16-878E-4FFC-8A58-6E0DDC3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675" y="5785874"/>
            <a:ext cx="45434" cy="454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9627438-AE7D-4F77-AFAD-78650B1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098" y="6047191"/>
            <a:ext cx="30109" cy="301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471E70D-77EC-492E-829D-AB29C6C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142" y="5808515"/>
            <a:ext cx="46914" cy="46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03F8EAE-7D66-49CA-9C59-B7A36EAA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216" y="6079503"/>
            <a:ext cx="41852" cy="41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7123CE3-E5B6-478A-A545-B8A498BD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727" y="5780866"/>
            <a:ext cx="29131" cy="291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9312C55-297B-4E8D-8B54-D8E62BFA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399" y="5922263"/>
            <a:ext cx="22963" cy="22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D39B5567-AC77-41AC-9271-E558AE5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41" y="5842192"/>
            <a:ext cx="37558" cy="375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4D6E254-13A4-46FA-A3FC-7AB23A08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017" y="6132522"/>
            <a:ext cx="18916" cy="18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4C2A91F-82D4-46FE-B704-30176B7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36" y="6131754"/>
            <a:ext cx="49459" cy="49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9F464CF-E220-4A48-9D78-EFC5CA9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964" y="6013966"/>
            <a:ext cx="41080" cy="41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42B2734-1542-4FCB-89FF-9EB9FBE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509" y="5953237"/>
            <a:ext cx="42097" cy="42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85BDF39-C277-4C25-BCC7-94CD2A94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77" y="6123646"/>
            <a:ext cx="32613" cy="32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5430438-EF82-4829-B28E-1562069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51" y="5863694"/>
            <a:ext cx="26840" cy="2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7201BCD-8293-4C67-B478-ED1EE5D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423" y="5765247"/>
            <a:ext cx="38987" cy="389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FBBD0D6-C660-4258-AAD9-737A3A4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218" y="6002387"/>
            <a:ext cx="49162" cy="49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9C39103-C772-4217-9CB3-7133B1B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200" y="5913612"/>
            <a:ext cx="37467" cy="37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83081BF-E052-493B-8E9C-8A5D83D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619" y="6090792"/>
            <a:ext cx="18115" cy="18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4F965C0-2A70-4461-909B-1A885B89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99" y="5872424"/>
            <a:ext cx="39421" cy="39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2373D63-3147-453B-9190-522B024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90" y="5850380"/>
            <a:ext cx="47384" cy="47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EA8E289-8454-4180-B458-822C3C5C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6" y="5780947"/>
            <a:ext cx="22111" cy="22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1DE34C2-55D9-4FFE-8226-BA2BE17E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144" y="5838205"/>
            <a:ext cx="46022" cy="46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C22E815-CEB6-4996-BCC2-48F21AD4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21" y="5778443"/>
            <a:ext cx="31012" cy="310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D8B428D-6009-4693-BC43-E58EB47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215" y="5775741"/>
            <a:ext cx="25397" cy="25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6DB83F8-B8AD-4BE3-91CF-0A5CECC4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750" y="6004176"/>
            <a:ext cx="43387" cy="43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1F948DF-DB6D-407F-BC1B-793B370E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774" y="5802250"/>
            <a:ext cx="30982" cy="3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2FC7600-2903-4D44-AE2F-2B47984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855" y="5761830"/>
            <a:ext cx="36498" cy="36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E4B30D6-6455-42CE-A7CB-20E3C87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398" y="6056997"/>
            <a:ext cx="40041" cy="40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0EF7B5A-06BA-4BBA-BEAB-DAF2362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130" y="6026248"/>
            <a:ext cx="21715" cy="217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E9DA3CE-9795-4949-9F8D-9B6306B7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457" y="5843664"/>
            <a:ext cx="29836" cy="298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21E5B4D-0805-42C8-891E-40C7C337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788" y="6101113"/>
            <a:ext cx="44510" cy="44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46D4DC2-01EF-4A66-91B8-D6EC50E6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687" y="6137094"/>
            <a:ext cx="45842" cy="45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BF2E4D5-4FC5-481E-B2E6-9411842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721" y="6125688"/>
            <a:ext cx="48043" cy="480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D35707B-0DF9-42B3-8647-D27B3BB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298" y="5823183"/>
            <a:ext cx="31217" cy="31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4CED84AF-AE89-4A41-A81F-247FCB4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84" y="5821447"/>
            <a:ext cx="43680" cy="43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C28395F-6E97-429F-994C-4E30D2D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186" y="5876771"/>
            <a:ext cx="31434" cy="314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8E5FEC8-92E7-400A-B79E-B1E1BF0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312" y="6163233"/>
            <a:ext cx="42792" cy="42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8FB5230-BD45-4457-BBC9-0C42DE76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245" y="6019333"/>
            <a:ext cx="23755" cy="23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7DDB1F7-FE5E-44BA-B908-EAEDF5C6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075" y="6036940"/>
            <a:ext cx="22640" cy="22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8BB9059-FE5A-4F57-ADE4-6A99AAAF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685" y="5972343"/>
            <a:ext cx="19551" cy="195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C52F4BF-3071-4B64-A61D-A4A19563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167" y="5999620"/>
            <a:ext cx="28699" cy="28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5869A72-0974-44B5-B95A-1E8877A6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243" y="5875062"/>
            <a:ext cx="30189" cy="30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8B7FE19-E954-43C7-811F-7DAC124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82" y="5772748"/>
            <a:ext cx="38231" cy="38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A0438F9-879E-4617-AF66-1825FF4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289" y="5866756"/>
            <a:ext cx="32932" cy="32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249DDA3-7E2A-49EF-93AC-6A52D1E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073" y="5913376"/>
            <a:ext cx="28501" cy="28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C6341FA-5DDB-458C-BC10-F6B717C6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400" y="6086687"/>
            <a:ext cx="39148" cy="39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74EAFDB7-19C5-4ED2-8863-9ED780C9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836" y="6142978"/>
            <a:ext cx="44980" cy="44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7883286A-9793-4AE4-8E01-7992C0F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946" y="5838538"/>
            <a:ext cx="26102" cy="26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9DA5FF7-965F-4725-B9B6-8BD6F89C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980" y="5765237"/>
            <a:ext cx="30829" cy="308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D1BADAC-7FFE-4C61-ADEA-A062B08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662" y="6097153"/>
            <a:ext cx="39266" cy="39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C8549F7-880F-4282-8723-AC6AB06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00" y="6172786"/>
            <a:ext cx="31519" cy="315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8CCC51E1-F85A-4D13-8EB6-F6110444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60" y="6166215"/>
            <a:ext cx="21798" cy="217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8A72225-C98F-43E5-9551-319DA79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150" y="5833729"/>
            <a:ext cx="24315" cy="2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73B2934-D4FA-46E4-A44B-F1F1D54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135" y="5767198"/>
            <a:ext cx="19173" cy="191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9A2D556-8A6C-4AAB-AF03-FDE9DBCD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123" y="6140700"/>
            <a:ext cx="20584" cy="2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4883B745-D394-4FB2-AD99-B62BFA7B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680" y="5874944"/>
            <a:ext cx="42758" cy="42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6762580-DBA2-4200-828A-7A057A8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373" y="5979590"/>
            <a:ext cx="31695" cy="31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3F1989B7-4551-4158-9C3D-35A557E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08" y="5793138"/>
            <a:ext cx="35712" cy="35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C9724BC2-4039-4B1D-A125-52FBB0E0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51" y="5907455"/>
            <a:ext cx="34912" cy="34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F407BF44-9E4B-4028-AB7F-8F848531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811" y="6078832"/>
            <a:ext cx="43507" cy="43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8048314-14C0-4AB2-95FD-39A7837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53" y="6063557"/>
            <a:ext cx="41602" cy="41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24F56C2E-53E1-4058-8803-A72BB572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185" y="6035709"/>
            <a:ext cx="43408" cy="43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450F33B-1979-4D00-B8BC-FB3D4E5C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832" y="6169369"/>
            <a:ext cx="29030" cy="29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9B1C9FB-6282-4D5F-BC52-25CE8EF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941" y="5803034"/>
            <a:ext cx="46783" cy="46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B9E988C-6B57-4DBE-BC65-193DE89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081" y="5946365"/>
            <a:ext cx="42667" cy="42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555CB38-BE6C-4128-AFD9-D891013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974" y="5937860"/>
            <a:ext cx="30894" cy="30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2D17659-1BD1-4C24-82D2-270562F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870" y="5951598"/>
            <a:ext cx="25673" cy="25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80280724-EBF3-47E4-8E06-9640A82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77" y="6161659"/>
            <a:ext cx="41216" cy="41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0830BE8-5138-409B-A7D0-2FD7C34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777" y="5906542"/>
            <a:ext cx="23522" cy="23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4907CE3A-A377-47BC-B44E-D6495F3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762" y="5778115"/>
            <a:ext cx="20906" cy="20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17E6F8A2-D31E-4F20-B995-7231416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855" y="5950459"/>
            <a:ext cx="47580" cy="47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CB3E79C-581B-4C29-B3FE-F3C1700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623" y="5762072"/>
            <a:ext cx="49544" cy="49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BFDBCA2-944E-421A-B2FD-400B8559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315" y="5804824"/>
            <a:ext cx="41008" cy="41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F5FAA77D-853C-4F1C-8DF6-B7499BB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6" y="5835003"/>
            <a:ext cx="36182" cy="36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B0B3390-B9DB-40BF-AB11-9F3E011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210" y="6026689"/>
            <a:ext cx="49277" cy="492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81D3258-5128-4C0C-B4D2-2A7C60AD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70" y="6136170"/>
            <a:ext cx="26293" cy="26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066E24AA-1DD5-4F9B-AFBC-E9FE858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117" y="5919737"/>
            <a:ext cx="49652" cy="49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ED1D4F8A-84D4-4C94-8B7F-D9E5A9C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760" y="5969259"/>
            <a:ext cx="31247" cy="31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F4B9ACF-16EB-4772-A6DB-8BD9300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406" y="6041023"/>
            <a:ext cx="19394" cy="19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F4BAE70-010F-47D0-9D15-6743CF4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779" y="5891321"/>
            <a:ext cx="28305" cy="28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D4366F4-F19A-4622-9716-124A13E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971" y="6112020"/>
            <a:ext cx="38085" cy="38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7723DEB-D0F2-4132-B1FE-5A30497C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022" y="6041620"/>
            <a:ext cx="28838" cy="288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19577E5-FC76-4040-95D5-226F780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865" y="5854200"/>
            <a:ext cx="48880" cy="4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EDDF70B-0DDC-45B4-A129-27AD9544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383" y="6141629"/>
            <a:ext cx="44212" cy="44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95DDA4D-344A-4B4D-B797-2BAC7119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83" y="5824617"/>
            <a:ext cx="29044" cy="29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D50AEA0-1319-4D31-9809-46CACB22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231" y="5912823"/>
            <a:ext cx="17587" cy="175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FC121B0-58B3-45A5-8035-ABD9145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536" y="6162535"/>
            <a:ext cx="24051" cy="24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B50D0FE7-899B-4353-AB04-3F6A2479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303" y="5912253"/>
            <a:ext cx="28541" cy="28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723555B-EB81-4D31-9BC4-7997500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100" y="6171636"/>
            <a:ext cx="45267" cy="45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FEDF5E4-5F03-417F-8956-3F303274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52" y="5861394"/>
            <a:ext cx="20231" cy="20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2B0DD7B-D379-42D6-A6D5-14CDC1F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06" y="5991185"/>
            <a:ext cx="35852" cy="35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084FC98C-853B-4A81-99BA-390ECAF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70" y="5899509"/>
            <a:ext cx="38132" cy="381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7BED5BA-6391-4A9F-A24B-7D79CA0C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429" y="6178234"/>
            <a:ext cx="41280" cy="41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93D35376-A530-4956-AD17-32C5C9EE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1" y="6165861"/>
            <a:ext cx="25401" cy="25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7C27DCDA-33F0-4FE2-93BD-667FEA42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981" y="6036467"/>
            <a:ext cx="38812" cy="38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B586F58-1723-4FC1-866C-38393A0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48" y="5964133"/>
            <a:ext cx="27512" cy="27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79B7BDB6-BA4B-4BE0-8903-9DD9E437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757" y="6122937"/>
            <a:ext cx="39818" cy="39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3ABCC2F-1498-48E7-9AB5-883771C3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55" y="5851379"/>
            <a:ext cx="21729" cy="21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A391AE8-B1F9-4F75-A490-2AE49C7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09" y="6159118"/>
            <a:ext cx="21561" cy="215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BA90F5B-3E82-4ACC-B566-9F2B11A3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484" y="5966862"/>
            <a:ext cx="19419" cy="194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C4DF5D7-2E9B-4602-99CD-5FEADF5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90" y="5866482"/>
            <a:ext cx="29515" cy="29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3AA0EF6-ED2D-412E-B144-B625E00F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490" y="6032056"/>
            <a:ext cx="31952" cy="3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8029DA1-F6A9-480E-8112-76E699C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794" y="5802083"/>
            <a:ext cx="40942" cy="40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81C03CB-41E8-4D3D-9A1B-ED89BD30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667" y="5768434"/>
            <a:ext cx="36590" cy="36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5565026-7564-4A89-868A-1D6ADA8E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675" y="6105185"/>
            <a:ext cx="33106" cy="331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4A98D5A-6356-4C79-AAEA-F767839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226" y="6150838"/>
            <a:ext cx="44701" cy="44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288DF399-BD0B-4D06-8858-49BFED4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885" y="6079471"/>
            <a:ext cx="17375" cy="17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6F9ACAE-D273-4FF8-B566-C323EC23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061" y="6065163"/>
            <a:ext cx="33549" cy="33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EAD4711F-BC54-43A2-820D-B483F76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319" y="5864204"/>
            <a:ext cx="39223" cy="39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02E0377-1801-4E1A-9746-B4E4F8A4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225" y="6068462"/>
            <a:ext cx="48608" cy="48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E6344FE-AE21-4D4A-99A8-CF7BE4D4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187" y="6016437"/>
            <a:ext cx="41809" cy="41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10275D82-ED0E-4CBB-A665-E645C743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12" y="5882208"/>
            <a:ext cx="33035" cy="3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2221EA7-10DA-4A28-B330-7B6C440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26" y="5839854"/>
            <a:ext cx="36499" cy="36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D6698E0-19F8-4A3C-AE3D-BA6FF12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276" y="6063455"/>
            <a:ext cx="32305" cy="32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8AA2A01A-2A8C-4538-8D84-D056020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88" y="5891509"/>
            <a:ext cx="34663" cy="34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08B9443-BB85-4C92-8120-06D415B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269" y="5915885"/>
            <a:ext cx="23679" cy="23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E35F161-54F0-44BC-87D2-98FA8A3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027" y="5892873"/>
            <a:ext cx="47669" cy="47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49C3D89-5E19-471A-B36E-E42A8E29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486" y="5996552"/>
            <a:ext cx="18527" cy="18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08ECFED3-793F-444F-95FA-053EDA3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895" y="5983212"/>
            <a:ext cx="18675" cy="18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BC73B40-AF14-4BCF-8736-592A56C1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979" y="6026930"/>
            <a:ext cx="28218" cy="28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6E5A71AC-F276-4DA5-A81C-CAA6120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986" y="5883997"/>
            <a:ext cx="27260" cy="27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775859FB-2CCD-4792-A5DA-107F6D7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01" y="6146282"/>
            <a:ext cx="30013" cy="3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61C2A57A-D7D2-4682-80DE-BD42D66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513" y="6152283"/>
            <a:ext cx="50687" cy="50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F9DB9E6B-CF90-4417-986E-14F0B9F9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846" y="6076081"/>
            <a:ext cx="35283" cy="35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E028119-5B74-43F7-8C40-8C8E7D9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209" y="6091753"/>
            <a:ext cx="32115" cy="32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1E1DC96E-AA88-469E-BE79-E8F1A24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168" y="5955590"/>
            <a:ext cx="21289" cy="21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103E657-C61D-4339-AB76-CB3A03F5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130" y="5841670"/>
            <a:ext cx="51121" cy="51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DCE2A1FD-C1D4-4069-8127-61022512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660" y="5924073"/>
            <a:ext cx="33505" cy="33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88803C6-CE66-4074-BB26-31CE71E2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326" y="5959088"/>
            <a:ext cx="50864" cy="50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3C41F49-97BB-4DDF-8171-3828068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693" y="6120793"/>
            <a:ext cx="49196" cy="491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855DD06-939D-48A8-9E0D-A1FCEAA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852" y="6165479"/>
            <a:ext cx="42712" cy="42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623FE5C-7325-4E23-9C79-41DB52B2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844" y="5849434"/>
            <a:ext cx="45623" cy="45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74D34073-1A3F-4DEC-A427-8F37B4BA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760" y="5764528"/>
            <a:ext cx="38034" cy="380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36DEB95-C40E-4D30-ADF3-FD5675D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65" y="6084838"/>
            <a:ext cx="34155" cy="34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94319C9D-189A-41FF-85D9-BDA104AC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785" y="6148866"/>
            <a:ext cx="48198" cy="48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236A10F4-00FF-4CC6-84F6-24FCC18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27" y="6130690"/>
            <a:ext cx="26162" cy="26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578A737-4AF4-4BC2-8CDD-E9DC1B2A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140" y="5786599"/>
            <a:ext cx="50467" cy="5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FE9FCE9-4D74-4851-A9DE-762AC3C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007" y="6126252"/>
            <a:ext cx="33010" cy="33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10D053B-D3DB-488D-BFA6-AD923B8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877" y="6070359"/>
            <a:ext cx="22105" cy="22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8D8A07A-9227-4F34-BBD2-6D17F1F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157" y="5792998"/>
            <a:ext cx="31963" cy="31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30F208C-6782-4E75-A223-96CF5FB2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731" y="5886039"/>
            <a:ext cx="42690" cy="42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2B56962-FACD-4292-B849-FFA55D4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848" y="6105771"/>
            <a:ext cx="34391" cy="343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D794EDF-4274-4073-A5BD-99C32C8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915" y="5790693"/>
            <a:ext cx="21275" cy="2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81872E2-55B4-4949-9881-729D25EC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656" y="5950464"/>
            <a:ext cx="17555" cy="17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9DBDC08-3C46-43C1-B5E9-085F841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322" y="5923584"/>
            <a:ext cx="37439" cy="3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556B0B59-8CF2-4DCE-A98B-FD8382E3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794" y="5884132"/>
            <a:ext cx="26929" cy="269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CF375D1-7703-437D-A485-12E6E8F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64" y="6006186"/>
            <a:ext cx="34340" cy="34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D46C29CB-7D0F-4A5D-BF5A-DBE85ED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155" y="6046036"/>
            <a:ext cx="39777" cy="39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1F79575-86F9-46DF-A99F-B2A0130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176" y="6177761"/>
            <a:ext cx="23346" cy="2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719F5A6-0AA4-47BF-B44D-9E4A8162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793" y="6157651"/>
            <a:ext cx="33362" cy="33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81E161B-92D7-404C-9B3F-4C0052A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412" y="6159784"/>
            <a:ext cx="49931" cy="499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31BD0DD7-3CEA-4DD8-89E6-4C8D7833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760" y="5940450"/>
            <a:ext cx="19053" cy="190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C0EE9F0-30E6-4873-84B4-81A1F8F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215" y="5872656"/>
            <a:ext cx="575527" cy="127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Ξ_M = {ξᵢ}ᵢ₌₁ᴹ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3E270B4-D31D-4366-8C67-DE58BEE8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951" y="6388499"/>
            <a:ext cx="1398317" cy="21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Empirical approximation of the shared latent distribution,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used for subsequent conditional distribution evaluation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33800E2-F4A2-4F2F-9622-6D1E86C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532" y="4077865"/>
            <a:ext cx="1982370" cy="21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Transfer mass through the deterministic map using the shared latent ensemble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to approximate p(y|X) and make predictions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575814DD-0C08-46E2-84ED-033555DF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216" y="4380550"/>
            <a:ext cx="2029265" cy="1274686"/>
          </a:xfrm>
          <a:prstGeom xmlns:a="http://schemas.openxmlformats.org/drawingml/2006/main" prst="roundRect">
            <a:avLst>
              <a:gd name="adj" fmla="val 10461"/>
            </a:avLst>
          </a:prstGeom>
          <a:solidFill xmlns:a="http://schemas.openxmlformats.org/drawingml/2006/main">
            <a:srgbClr val="FFFBF6"/>
          </a:solidFill>
          <a:ln xmlns:a="http://schemas.openxmlformats.org/drawingml/2006/main" w="11430">
            <a:solidFill>
              <a:srgbClr val="F3B26D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965882A8-B75A-4CAD-A2FC-3075BCB1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164" y="4431708"/>
            <a:ext cx="852632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rPr>
              <a:t>Given a new condition  X₍*₎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AB8BB6DF-7847-45DD-A51C-593E163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427" y="4789813"/>
            <a:ext cx="289895" cy="247263"/>
          </a:xfrm>
          <a:prstGeom xmlns:a="http://schemas.openxmlformats.org/drawingml/2006/main" prst="roundRect">
            <a:avLst>
              <a:gd name="adj" fmla="val 2311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16D8CAF-6D7C-404B-9D9A-8080C34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006" y="4849498"/>
            <a:ext cx="238737" cy="11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X₍*₎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CD455E30-7735-4130-9E08-9517993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427" y="5135129"/>
            <a:ext cx="434843" cy="460422"/>
          </a:xfrm>
          <a:prstGeom xmlns:a="http://schemas.openxmlformats.org/drawingml/2006/main" prst="roundRect">
            <a:avLst>
              <a:gd name="adj" fmla="val 1314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86DF9F7-A762-41B0-8AF3-F117203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479" y="5169235"/>
            <a:ext cx="400737" cy="179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Latent ensemble</a:t>
            </a:r>
          </a:p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Ξ_M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D009F5C1-B01B-4064-8EC4-FFB308BA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111" y="5386656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708FC39-DBA0-45AD-9D41-F0E913F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901" y="5386656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9252F6EE-A290-4E67-B2EC-632300E7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690" y="5386656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4F3E5F4-7CEB-4741-976E-994FD0F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480" y="5386656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4742C92-46C6-474A-A375-6383F69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111" y="5476182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049ED97-19B5-44AB-8EAE-610CA88A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901" y="5476182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DED1FC14-871A-4280-84C1-4DE0BD2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690" y="5476182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94A236A7-A11F-46F8-B2A9-7AE6384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480" y="5476182"/>
            <a:ext cx="55421" cy="5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FDE73623-092A-46F5-AD96-C7C955C2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743" y="4661918"/>
            <a:ext cx="865422" cy="115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rPr>
              <a:t>Fixed decoder (trained)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62D77B3-36B7-4F7F-B4BC-5B370F2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743" y="4751445"/>
            <a:ext cx="562737" cy="682106"/>
          </a:xfrm>
          <a:custGeom xmlns:a="http://schemas.openxmlformats.org/drawingml/2006/main">
            <a:pathLst>
              <a:path w="562737" h="682106">
                <a:moveTo>
                  <a:pt x="0" y="0"/>
                </a:moveTo>
                <a:lnTo>
                  <a:pt x="562737" y="140684"/>
                </a:lnTo>
                <a:lnTo>
                  <a:pt x="562737" y="541422"/>
                </a:lnTo>
                <a:lnTo>
                  <a:pt x="0" y="682106"/>
                </a:lnTo>
                <a:close/>
              </a:path>
            </a:pathLst>
          </a:custGeom>
          <a:solidFill xmlns:a="http://schemas.openxmlformats.org/drawingml/2006/main">
            <a:srgbClr val="FFB17B"/>
          </a:solidFill>
          <a:ln xmlns:a="http://schemas.openxmlformats.org/drawingml/2006/main" w="11430">
            <a:solidFill>
              <a:srgbClr val="D96A2F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0E821BA6-D522-4066-8715-29683BB3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585" y="4968866"/>
            <a:ext cx="503053" cy="238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  <a:p xmlns:a="http://schemas.openxmlformats.org/drawingml/2006/main">
            <a:pPr algn="ctr">
              <a:def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713214"/>
                </a:solidFill>
                <a:latin typeface="Times New Roman"/>
                <a:ea typeface="Times New Roman"/>
                <a:cs typeface="Times New Roman"/>
              </a:rPr>
              <a:t>Tₓ*(ξ)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3ED41B1-1F1A-48CA-8B50-BA8292E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322" y="4917708"/>
            <a:ext cx="2898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0440AB33-9C21-4FB0-8216-B1F67F42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269" y="5365340"/>
            <a:ext cx="1449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CD40D2D-23E3-49AD-ACAC-4CDEB47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07" y="5088235"/>
            <a:ext cx="1449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759A23C3-CA38-4A7E-96B2-59BA40D9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007" y="4875076"/>
            <a:ext cx="584053" cy="14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ŷ* = Tₓ*(ξ)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8D005B5-B02C-4220-B9DE-0F193B4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846" y="5019682"/>
            <a:ext cx="25677" cy="25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1AD1B4D-3D3D-46D4-8A9B-F86231E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009" y="5143517"/>
            <a:ext cx="30430" cy="30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911C83FD-A2FE-4321-ABB4-E101A0A2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5" y="5218366"/>
            <a:ext cx="45525" cy="45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9B2BD75-8CD8-4CCF-8B2D-79E91B9F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439" y="5075122"/>
            <a:ext cx="51068" cy="51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F6380128-5318-4373-82A8-6B10DD38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917" y="5124470"/>
            <a:ext cx="27163" cy="271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42E61325-2FB8-4BEC-AEE6-D18EC9CB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290" y="5197306"/>
            <a:ext cx="22127" cy="22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B98D75B2-B2A9-4441-979F-B4BF6C9A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715" y="5124522"/>
            <a:ext cx="50169" cy="50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414920C-00E2-40F9-963B-13ECACE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93" y="5026910"/>
            <a:ext cx="23186" cy="231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3810501-FE1C-4F5C-BE30-114781D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882" y="5025259"/>
            <a:ext cx="23597" cy="23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19D0821-CB0C-496C-BD73-2B217EE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834" y="4950462"/>
            <a:ext cx="31507" cy="31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BBE2E3ED-E314-4302-91AF-2D120CB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101" y="5213206"/>
            <a:ext cx="27024" cy="27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43431B0-17BC-4143-B7EE-91A017BD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842" y="5064594"/>
            <a:ext cx="24356" cy="24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D6A4FF9-759E-423C-8768-30EAC56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110" y="5205205"/>
            <a:ext cx="37714" cy="377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4DFCB3B8-B7BB-43FD-9C98-50942BD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956" y="5176041"/>
            <a:ext cx="47204" cy="47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F9059612-BFBD-4F87-A40D-0278826B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487" y="5097889"/>
            <a:ext cx="32931" cy="329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970DA5E6-DAC5-4C67-A041-67F46C1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754" y="5091540"/>
            <a:ext cx="43210" cy="432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ED599F9-8CDD-44E5-A193-488104D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917" y="4987889"/>
            <a:ext cx="24042" cy="24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5284A5E-6672-47EE-A820-8D945900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974" y="5197619"/>
            <a:ext cx="23743" cy="23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8ACAF6E-B5E0-4329-8A78-5FBC0DA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083" y="4971835"/>
            <a:ext cx="22417" cy="224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49A7375F-9DE3-421D-9C48-274C61A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246" y="5011118"/>
            <a:ext cx="34275" cy="34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D2090DD-C748-4753-AFB3-434AFA5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618" y="5146361"/>
            <a:ext cx="39423" cy="39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E0E92E0E-534C-46C1-9C2E-4B2C9C0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307" y="5208460"/>
            <a:ext cx="17965" cy="17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63E2B151-2CC8-44F1-8D7A-22B453F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259" y="5028308"/>
            <a:ext cx="18218" cy="18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E2219F53-8BBB-4307-86F2-E9B07C8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684" y="5016591"/>
            <a:ext cx="20287" cy="20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346D6039-2CA5-468D-A937-58C9688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36" y="5004203"/>
            <a:ext cx="38382" cy="38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1FC2A749-596A-4783-AADA-365FE800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167" y="5111933"/>
            <a:ext cx="18504" cy="18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9EDA8999-FC1E-4F66-88E7-1A7A5E44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81" y="5170676"/>
            <a:ext cx="43073" cy="43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8E378A6-C8C9-4E4A-8642-05D9C17E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86" y="5011327"/>
            <a:ext cx="23984" cy="23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4D4C4FBE-CEBD-48F5-99FE-E1E64BD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232" y="5044570"/>
            <a:ext cx="43658" cy="436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CFB4A89B-5333-465E-B2F4-5E50164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027" y="5101300"/>
            <a:ext cx="48095" cy="48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01FB5929-85C7-471E-9356-98EAF39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820" y="5012412"/>
            <a:ext cx="17401" cy="17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13F15BD1-478F-4507-82E0-32B3C73A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67" y="5188589"/>
            <a:ext cx="33996" cy="339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585A5520-5BAF-45F5-AC58-F910342C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777" y="5170833"/>
            <a:ext cx="43881" cy="43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28B7084B-E170-4A9C-95E7-891C26A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097" y="5079931"/>
            <a:ext cx="27160" cy="2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A2A0793-2DE2-405D-A678-5F219D3F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785" y="5036674"/>
            <a:ext cx="32150" cy="3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4B49E89-2C09-4847-A4B1-EEADA04E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895" y="5161852"/>
            <a:ext cx="38956" cy="38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0498B3C-0A4E-45BD-B022-CDB7AC37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531" y="4996463"/>
            <a:ext cx="27682" cy="27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6E093A59-9487-4C9C-8DCF-9159D6C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746" y="4951193"/>
            <a:ext cx="46646" cy="46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2111DC6-B6E9-4B99-B3D7-4A2DC42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98" y="5146831"/>
            <a:ext cx="41847" cy="418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A583E79-7B8F-49CE-8422-E314B8E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386" y="5124377"/>
            <a:ext cx="27494" cy="274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68B8F5C-2B26-472F-891B-61072AB7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917" y="5004620"/>
            <a:ext cx="17800" cy="1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17A2B58-C454-4E18-963D-0E2F93FB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342" y="5198245"/>
            <a:ext cx="26974" cy="26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1491C79-892E-44FD-AB63-E678A97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873" y="4956356"/>
            <a:ext cx="35122" cy="35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BF5DFF7F-67DC-4B06-96E3-C3DFFF4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456" y="4979534"/>
            <a:ext cx="22349" cy="223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DD796DE5-3142-4823-AD40-EBA2424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97" y="5098672"/>
            <a:ext cx="36970" cy="36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6325FA9-592B-4806-9928-A4DEFF8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202" y="5144665"/>
            <a:ext cx="24986" cy="24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2A78037A-1DAE-4444-B497-2B6D0358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627" y="4948408"/>
            <a:ext cx="34713" cy="34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7A0FCFC2-B41A-4C1C-A1DD-FE23800A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21" y="5210481"/>
            <a:ext cx="46256" cy="462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33345276-279F-4D27-A0C3-7F151D39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741" y="5181987"/>
            <a:ext cx="39719" cy="39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BF0F9EFA-F43B-4A4C-9F57-13CD7B6B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693" y="4983717"/>
            <a:ext cx="29315" cy="29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2F71045C-93A4-4053-8951-989C3B9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276" y="5026355"/>
            <a:ext cx="29252" cy="29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85A12F07-4C96-4D23-86AE-05210C7F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649" y="5140795"/>
            <a:ext cx="19636" cy="19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C17B27F9-D7B9-4386-AF89-B08DD9C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917" y="5157933"/>
            <a:ext cx="48784" cy="48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FBC4D805-CCC0-4E8D-BE9A-3BA4B04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079" y="5198558"/>
            <a:ext cx="28590" cy="2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FBF1162-5E76-431F-B020-480A5D7D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241" y="5093565"/>
            <a:ext cx="41475" cy="4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C15F37B0-871C-43D8-BBFB-A70CB46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509" y="4963742"/>
            <a:ext cx="33438" cy="33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F83BC24C-E8DE-4130-B36D-81920DB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987" y="5219775"/>
            <a:ext cx="18691" cy="18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B5CD11B5-0EF1-487A-81BD-DD613443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675" y="5112768"/>
            <a:ext cx="45550" cy="45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0A59F1D-E0BC-4C0F-A601-EB3E842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785" y="5053406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6D006962-F4AE-488C-BB61-2BF0D684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63" y="5162478"/>
            <a:ext cx="42187" cy="42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C02B10B-081C-406F-A22F-C5EAD77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320" y="4980984"/>
            <a:ext cx="40388" cy="40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9B050A4-3C71-463B-B331-7357048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903" y="5209504"/>
            <a:ext cx="34720" cy="3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42D752D8-077E-4687-A516-57D272B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224" y="5099142"/>
            <a:ext cx="39394" cy="39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D28754FB-4156-494C-9D68-C1B52BB9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34" y="5060582"/>
            <a:ext cx="34515" cy="34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967CE67-0B77-4B6A-B1FE-D5B2569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233" y="5214615"/>
            <a:ext cx="34295" cy="3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76797625-38BD-47F8-91CA-F9EA2B3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079" y="5102240"/>
            <a:ext cx="18837" cy="18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11EE831-828F-4B4E-AA27-6679CD64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978" y="5134141"/>
            <a:ext cx="36459" cy="3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1B5EFC8E-31C1-4B60-8664-37AA8FD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930" y="5141213"/>
            <a:ext cx="33159" cy="33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4A9A896-F492-4A6C-A5FF-98F7855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92" y="4954351"/>
            <a:ext cx="23149" cy="23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3D3202B-6A96-468A-8BF5-82F6C71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518" y="4984239"/>
            <a:ext cx="20639" cy="20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E19A21E-5FCC-44A8-8D77-34A7E5CF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259" y="5061771"/>
            <a:ext cx="39840" cy="39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2A7BDAA-889B-46FE-ACE6-D567D59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474" y="5017844"/>
            <a:ext cx="26750" cy="2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489C189-610C-4817-AD3F-48ABC099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215" y="4973245"/>
            <a:ext cx="29688" cy="29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B99E1B-377A-40E2-9C15-363FA19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535" y="5048764"/>
            <a:ext cx="28757" cy="28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DEE99EB-53C7-41B3-A9C6-79812AD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487" y="5075297"/>
            <a:ext cx="38168" cy="38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644CFC4-2053-4583-860A-0C6BBBFD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81" y="5173632"/>
            <a:ext cx="38026" cy="38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3BE98DA-B2E8-41EA-9952-9656189F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917" y="5174665"/>
            <a:ext cx="42542" cy="425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659D602-371C-400B-AAF4-D6C2BC7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447" y="5199185"/>
            <a:ext cx="31822" cy="31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E782223-B53D-4190-AAD3-EAE04679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031" y="5078086"/>
            <a:ext cx="20075" cy="2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AE12D11-1DA7-43CA-B5AD-23DF8DE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67" y="5222053"/>
            <a:ext cx="21512" cy="21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6CDE78A-5240-40EA-BFC4-331B3499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513" y="5172085"/>
            <a:ext cx="50344" cy="50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57DAF16-4216-43F1-9458-5408A14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623" y="5048973"/>
            <a:ext cx="18465" cy="18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4EE9EB9-2507-48DC-BB66-3421CBDC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01" y="4973506"/>
            <a:ext cx="42403" cy="42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215D449-83AB-43E3-97B8-6500F227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000" y="5066473"/>
            <a:ext cx="34050" cy="34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31CF9B5-C5ED-4E49-8F68-BD2EFE11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426" y="5158769"/>
            <a:ext cx="41725" cy="41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CBCAD41-AFFA-44EB-9B50-01E9E3DD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92" y="5369603"/>
            <a:ext cx="417790" cy="1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{ŷ*ᵢ}ᵢ₌₁ᴹ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5780E42-1592-482A-866C-3764E94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216" y="5723446"/>
            <a:ext cx="2029265" cy="946422"/>
          </a:xfrm>
          <a:prstGeom xmlns:a="http://schemas.openxmlformats.org/drawingml/2006/main" prst="roundRect">
            <a:avLst>
              <a:gd name="adj" fmla="val 14090"/>
            </a:avLst>
          </a:prstGeom>
          <a:solidFill xmlns:a="http://schemas.openxmlformats.org/drawingml/2006/main">
            <a:srgbClr val="FFFBF6"/>
          </a:solidFill>
          <a:ln xmlns:a="http://schemas.openxmlformats.org/drawingml/2006/main" w="11430">
            <a:solidFill>
              <a:srgbClr val="F3B26D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1FFBC7A-E299-4C09-8006-DD9E01D8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164" y="5774604"/>
            <a:ext cx="1044475" cy="127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rPr>
              <a:t>Conditional distribution approximation and prediction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DD109F0-6A93-4919-B17F-552C16E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164" y="5957920"/>
            <a:ext cx="1364212" cy="19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p(y|X₍*₎) ≈  1/M  ∑  δ(y − Tₓ*(ξᵢ))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139E16A-4CC7-48C0-8D11-AD8BFB8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427" y="6580341"/>
            <a:ext cx="8995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22ED31F-D4E8-420A-91E9-B2BD529B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427" y="6252078"/>
            <a:ext cx="953" cy="328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651BA28-90D8-43AC-897E-835E9641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00" y="6298973"/>
            <a:ext cx="149211" cy="19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Density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753816B-390B-4930-8E8C-5CFB814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007" y="6576078"/>
            <a:ext cx="76737" cy="93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9E7FDE0-EEE8-4796-92A7-2D71BE83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795" y="6281920"/>
            <a:ext cx="856896" cy="289895"/>
          </a:xfrm>
          <a:custGeom xmlns:a="http://schemas.openxmlformats.org/drawingml/2006/main">
            <a:pathLst>
              <a:path w="856896" h="289895">
                <a:moveTo>
                  <a:pt x="0" y="289895"/>
                </a:moveTo>
                <a:lnTo>
                  <a:pt x="115105" y="272842"/>
                </a:lnTo>
                <a:lnTo>
                  <a:pt x="200369" y="247263"/>
                </a:lnTo>
                <a:lnTo>
                  <a:pt x="260053" y="179053"/>
                </a:lnTo>
                <a:lnTo>
                  <a:pt x="302685" y="144948"/>
                </a:lnTo>
                <a:lnTo>
                  <a:pt x="349579" y="166263"/>
                </a:lnTo>
                <a:lnTo>
                  <a:pt x="396474" y="213158"/>
                </a:lnTo>
                <a:lnTo>
                  <a:pt x="443369" y="204632"/>
                </a:lnTo>
                <a:lnTo>
                  <a:pt x="481737" y="76737"/>
                </a:lnTo>
                <a:lnTo>
                  <a:pt x="515843" y="8526"/>
                </a:lnTo>
                <a:lnTo>
                  <a:pt x="558474" y="0"/>
                </a:lnTo>
                <a:lnTo>
                  <a:pt x="609632" y="93790"/>
                </a:lnTo>
                <a:lnTo>
                  <a:pt x="669316" y="170526"/>
                </a:lnTo>
                <a:lnTo>
                  <a:pt x="746053" y="238737"/>
                </a:lnTo>
                <a:lnTo>
                  <a:pt x="839843" y="281369"/>
                </a:lnTo>
                <a:lnTo>
                  <a:pt x="856896" y="289895"/>
                </a:lnTo>
                <a:close/>
              </a:path>
            </a:pathLst>
          </a:custGeom>
          <a:solidFill xmlns:a="http://schemas.openxmlformats.org/drawingml/2006/main">
            <a:srgbClr val="FFD4A5"/>
          </a:solidFill>
          <a:ln xmlns:a="http://schemas.openxmlformats.org/drawingml/2006/main" w="11430">
            <a:solidFill>
              <a:srgbClr val="F08842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1431440-C32D-470E-94C3-61270F1C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270" y="5902499"/>
            <a:ext cx="609632" cy="711948"/>
          </a:xfrm>
          <a:prstGeom xmlns:a="http://schemas.openxmlformats.org/drawingml/2006/main" prst="roundRect">
            <a:avLst>
              <a:gd name="adj" fmla="val 187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0478">
            <a:solidFill>
              <a:srgbClr val="F29A67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F1A7D9B-0BF9-44DD-A60D-AA1C694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28" y="5953657"/>
            <a:ext cx="511579" cy="10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>
                <a:solidFill>
                  <a:srgbClr val="9B3E18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68BC0FD-02D2-46A2-AC07-0F7AD70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2" y="6102867"/>
            <a:ext cx="511579" cy="392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• Conditional distribution estimation</a:t>
            </a:r>
          </a:p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• Uncertainty quantification</a:t>
            </a:r>
          </a:p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• Statistical analysis</a:t>
            </a:r>
          </a:p>
          <a:p xmlns:a="http://schemas.openxmlformats.org/drawingml/2006/main">
            <a:pPr algn="l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……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98AE0825-41B5-4A5E-8B37-24EDF5C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3" y="6848921"/>
            <a:ext cx="7392324" cy="315474"/>
          </a:xfrm>
          <a:prstGeom xmlns:a="http://schemas.openxmlformats.org/drawingml/2006/main" prst="roundRect">
            <a:avLst>
              <a:gd name="adj" fmla="val 39250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3335">
            <a:solidFill>
              <a:srgbClr val="5DA4DF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D4192ADC-B446-48EA-A838-7FBC71D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48" y="6917131"/>
            <a:ext cx="1001843" cy="14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Observed data  (X, y)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A60A867-F815-42C4-9768-399F5F6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86" y="6946973"/>
            <a:ext cx="277106" cy="136421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044B557-D0E6-4AC2-9809-0224CAE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475" y="6917131"/>
            <a:ext cx="1364212" cy="14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Learn conditional deterministic map  Tₓ(ξ)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547FE13-ED8A-4132-813E-3B23D2A8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845" y="6946973"/>
            <a:ext cx="277106" cy="136421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46BB459F-F22E-4EE8-8C40-A4A5988C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46" y="6917131"/>
            <a:ext cx="1577370" cy="14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Construct shared latent distribution  μξ (empirical form)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4845CE1-F92C-4B6C-89EF-6D8B349D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690" y="6946973"/>
            <a:ext cx="277106" cy="136421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AF3BB14-8FE7-4990-A787-CF753B3B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269" y="6917131"/>
            <a:ext cx="1406844" cy="14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Obtain conditional distribution  p(y|X)</a:t>
            </a:r>
          </a:p>
        </p:txBody>
      </p:sp>
    </p:spTree>
    <p:extLst>
      <p:ext uri="{BB962C8B-B14F-4D97-AF65-F5344CB8AC3E}">
        <p14:creationId xmlns:p14="http://schemas.microsoft.com/office/powerpoint/2010/main" val="736163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2026-09-22T13:52:23.9080000Z</dcterms:created>
  <dcterms:modified xsi:type="dcterms:W3CDTF">2026-09-22T13:52:23.9080000Z</dcterms:modified>
</coreProperties>
</file>