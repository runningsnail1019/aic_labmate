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b3bd5baa184f3c" /><Relationship Type="http://schemas.openxmlformats.org/officeDocument/2006/relationships/extended-properties" Target="/docProps/app.xml" Id="Rb843b4f185ca4362" /><Relationship Type="http://schemas.openxmlformats.org/officeDocument/2006/relationships/officeDocument" Target="/ppt/presentation.xml" Id="R53b0214c865045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91e9fc9e59403a"/>
  </p:sldMasterIdLst>
  <p:notesMasterIdLst>
    <p:notesMasterId xmlns:r="http://schemas.openxmlformats.org/officeDocument/2006/relationships" r:id="Re3260f109e3f453a"/>
  </p:notesMasterIdLst>
  <p:sldIdLst>
    <p:sldId xmlns:r="http://schemas.openxmlformats.org/officeDocument/2006/relationships" id="256" r:id="R0fa1cb57cde34952"/>
  </p:sldIdLst>
  <p:sldSz cx="16897350" cy="84391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2175ab9847449d" /><Relationship Type="http://schemas.openxmlformats.org/officeDocument/2006/relationships/slideMaster" Target="/ppt/slideMasters/slideMaster1.xml" Id="Re691e9fc9e59403a" /><Relationship Type="http://schemas.openxmlformats.org/officeDocument/2006/relationships/notesMaster" Target="/ppt/notesMasters/notesMaster1.xml" Id="Re3260f109e3f453a" /><Relationship Type="http://schemas.openxmlformats.org/officeDocument/2006/relationships/presProps" Target="/ppt/presProps.xml" Id="R349768ee557f4667" /><Relationship Type="http://schemas.openxmlformats.org/officeDocument/2006/relationships/tableStyles" Target="/ppt/tableStyles.xml" Id="R5a43fffa75954ac4" /><Relationship Type="http://schemas.openxmlformats.org/officeDocument/2006/relationships/slide" Target="/ppt/slides/slide1.xml" Id="R0fa1cb57cde349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33e54e158c48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fd436e47b04ec9" /><Relationship Type="http://schemas.openxmlformats.org/officeDocument/2006/relationships/notesMaster" Target="/ppt/notesMasters/notesMaster1.xml" Id="Rd325f531849647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根据用户提供的参考图重建。所有主要图形元素均为原生可编辑形状、文本框、连接线与散点椭圆。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0c5e6447944f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537ebe2bca404a" /><Relationship Type="http://schemas.openxmlformats.org/officeDocument/2006/relationships/slideLayout" Target="/ppt/slideLayouts/slideLayout1.xml" Id="Rb5d9a7dbc3db43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d9a7dbc3db43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a480e0d754745" /><Relationship Type="http://schemas.openxmlformats.org/officeDocument/2006/relationships/notesSlide" Target="/ppt/notesSlides/notesSlide1.xml" Id="R87ac037c6ea640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F931D6F7-9762-47C2-AB8F-8EDF71BA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14300"/>
            <a:ext cx="165925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14288">
            <a:solidFill>
              <a:srgbClr val="2F86D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9B99C-B21D-4D63-A378-14C2E330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"/>
            <a:ext cx="1347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6365C"/>
                </a:solidFill>
                <a:latin typeface="SimSun"/>
                <a:ea typeface="SimSun"/>
                <a:cs typeface="SimSun"/>
              </a:defRPr>
            </a:pPr>
            <a:r>
              <a:rPr sz="2400" b="1">
                <a:solidFill>
                  <a:srgbClr val="16365C"/>
                </a:solidFill>
                <a:latin typeface="SimSun"/>
                <a:ea typeface="SimSun"/>
                <a:cs typeface="SimSun"/>
              </a:rPr>
              <a:t>基于条件确定性映射的条件分布学习与推断框架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70969-3E0E-4922-9C51-9A3FEEA6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838200"/>
            <a:ext cx="7543800" cy="6553200"/>
          </a:xfrm>
          <a:prstGeom xmlns:a="http://schemas.openxmlformats.org/drawingml/2006/main" prst="roundRect">
            <a:avLst>
              <a:gd name="adj" fmla="val 2035"/>
            </a:avLst>
          </a:prstGeom>
          <a:solidFill xmlns:a="http://schemas.openxmlformats.org/drawingml/2006/main">
            <a:srgbClr val="EDF6FE"/>
          </a:solidFill>
          <a:ln xmlns:a="http://schemas.openxmlformats.org/drawingml/2006/main" w="14288">
            <a:solidFill>
              <a:srgbClr val="2D83C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ECD15-C012-4BE4-A41A-C413CB06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838200"/>
            <a:ext cx="754380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2D83C6"/>
          </a:solidFill>
          <a:ln xmlns:a="http://schemas.openxmlformats.org/drawingml/2006/main" w="0">
            <a:solidFill>
              <a:srgbClr val="2D83C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A281C-B5DD-4712-A5A9-59D81751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057275"/>
            <a:ext cx="7543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3C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CD569-9991-4735-AD3F-E49B4108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66775"/>
            <a:ext cx="735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阶段一：确定性潜变量-响应学习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6CF75-DE4B-44B3-919A-65FD06A7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38200"/>
            <a:ext cx="4019550" cy="6553200"/>
          </a:xfrm>
          <a:prstGeom xmlns:a="http://schemas.openxmlformats.org/drawingml/2006/main" prst="roundRect">
            <a:avLst>
              <a:gd name="adj" fmla="val 3318"/>
            </a:avLst>
          </a:prstGeom>
          <a:solidFill xmlns:a="http://schemas.openxmlformats.org/drawingml/2006/main">
            <a:srgbClr val="F1FBF6"/>
          </a:solidFill>
          <a:ln xmlns:a="http://schemas.openxmlformats.org/drawingml/2006/main" w="14288">
            <a:solidFill>
              <a:srgbClr val="29A98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4DE35-0A96-4A7D-9E62-301E05F2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38200"/>
            <a:ext cx="401955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29A984"/>
          </a:solidFill>
          <a:ln xmlns:a="http://schemas.openxmlformats.org/drawingml/2006/main" w="0">
            <a:solidFill>
              <a:srgbClr val="29A98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AD3D7-1FDD-4455-BD07-4C7DB6FA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057275"/>
            <a:ext cx="4019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A98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7BD3F5-4168-4093-BC92-16935099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66775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阶段二：潜变量分布构建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EA9C6-4349-49DD-AB5E-4BD238EF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838200"/>
            <a:ext cx="4762500" cy="65532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14288">
            <a:solidFill>
              <a:srgbClr val="EE7E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67EE2-DE8B-46E3-8EFD-8F60B9D2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838200"/>
            <a:ext cx="476250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EE7E44"/>
          </a:solidFill>
          <a:ln xmlns:a="http://schemas.openxmlformats.org/drawingml/2006/main" w="0">
            <a:solidFill>
              <a:srgbClr val="EE7E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EEE66-B10D-43BA-9507-1BD32F66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1057275"/>
            <a:ext cx="4762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E4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49D9C-6338-4475-A805-A61CC3D5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8667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阶段三：条件分布评估与预测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4D68B4-0563-4AD7-B694-B5D44033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81125"/>
            <a:ext cx="699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联合训练编码器与解码器，学习条件相关的确定性映射  Tₓ(ξ)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763E3-1D94-4EC9-9D61-A61E581E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28800"/>
            <a:ext cx="7162800" cy="18859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A7CE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2A8E95-77AD-425A-8D1D-E0A30311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145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条件编码与后验推断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317314-6C13-4A6B-B80A-32544918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70909-6AFA-454C-BB45-C87AD99B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581275"/>
            <a:ext cx="1190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(预处理/特征映射</a:t>
            </a:r>
          </a:p>
          <a:p xmlns:a="http://schemas.openxmlformats.org/drawingml/2006/main">
            <a:pPr algn="ctr">
              <a:defRPr sz="1125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 ϕ(X))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A7FC2C-143D-437E-8C61-F21F163D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A37CE2-FE5E-4FF8-BA39-629C91A3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09800"/>
            <a:ext cx="1371600" cy="1352550"/>
          </a:xfrm>
          <a:custGeom xmlns:a="http://schemas.openxmlformats.org/drawingml/2006/main">
            <a:pathLst>
              <a:path w="1371600" h="1352550">
                <a:moveTo>
                  <a:pt x="0" y="0"/>
                </a:moveTo>
                <a:lnTo>
                  <a:pt x="1371600" y="314325"/>
                </a:lnTo>
                <a:lnTo>
                  <a:pt x="1371600" y="1038225"/>
                </a:lnTo>
                <a:lnTo>
                  <a:pt x="0" y="1352550"/>
                </a:lnTo>
                <a:close/>
              </a:path>
            </a:pathLst>
          </a:custGeom>
          <a:solidFill xmlns:a="http://schemas.openxmlformats.org/drawingml/2006/main">
            <a:srgbClr val="8EC0EA"/>
          </a:solidFill>
          <a:ln xmlns:a="http://schemas.openxmlformats.org/drawingml/2006/main" w="11430">
            <a:solidFill>
              <a:srgbClr val="5D92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C4C33A-F33E-434C-A5B6-74E7A930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52700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编码器</a:t>
            </a:r>
          </a:p>
          <a:p xmlns:a="http://schemas.openxmlformats.org/drawingml/2006/main">
            <a:pPr algn="ctr">
              <a:defRPr sz="1275" b="1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qψ(ξ|X, y)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6BB077-3FF6-47D8-8F7B-C2BF2CDC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57450"/>
            <a:ext cx="428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24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92BC9A-F6F9-4CFF-9B60-77136A91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333750"/>
            <a:ext cx="428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243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7231E9-DFCA-4372-9627-46652EEC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71725"/>
            <a:ext cx="9144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8EAFE"/>
          </a:solidFill>
          <a:ln xmlns:a="http://schemas.openxmlformats.org/drawingml/2006/main" w="9525">
            <a:solidFill>
              <a:srgbClr val="7EB7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393F9F-5E88-46F9-AFC4-3E70F8DA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9077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mψ(X, y)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161F01-AD93-4D3B-9A83-1F76CB2C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81325"/>
            <a:ext cx="9144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8EAFE"/>
          </a:solidFill>
          <a:ln xmlns:a="http://schemas.openxmlformats.org/drawingml/2006/main" w="9525">
            <a:solidFill>
              <a:srgbClr val="7EB7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112881-9A9D-454E-82BC-5DBE3D2D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0037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sψ(X, y)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36A4A6-D6F2-467C-A763-0201FB97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43175"/>
            <a:ext cx="34290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2243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138421-D4B8-4E48-9D5F-EB73063C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28950"/>
            <a:ext cx="34290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2243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84CB90-1B41-4E5F-990E-B415605B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62200"/>
            <a:ext cx="1504950" cy="102870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0478">
            <a:solidFill>
              <a:srgbClr val="88BD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36A981-E7D7-432F-8B05-BF12707F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57450"/>
            <a:ext cx="13525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重参数化采样</a:t>
            </a:r>
          </a:p>
          <a:p xmlns:a="http://schemas.openxmlformats.org/drawingml/2006/main">
            <a:pPr algn="ctr">
              <a:defRPr sz="12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ξ = mψ + sψ ⊙ ε</a:t>
            </a:r>
          </a:p>
          <a:p xmlns:a="http://schemas.openxmlformats.org/drawingml/2006/main">
            <a:pPr algn="ctr">
              <a:defRPr sz="12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ε ∼ 𝓝(0, I)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61B643-D006-47D4-A6D4-AC3090BE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95600"/>
            <a:ext cx="266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243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46F9B5-7548-4B52-9BA4-4F0AC0D4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4132" y="2651760"/>
            <a:ext cx="91938" cy="919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BB642B-77DB-4320-924B-69B7D70E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7239" y="2742106"/>
            <a:ext cx="86330" cy="863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5488BE-FCC7-4E6C-B104-F0D1576C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319" y="2976473"/>
            <a:ext cx="53028" cy="53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BA0658-3C36-4365-A283-DCC27DA3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847" y="2843687"/>
            <a:ext cx="99984" cy="999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C52430-2728-49F1-B0B9-2F57F658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098" y="2708873"/>
            <a:ext cx="106547" cy="1065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FF5A3D-4C65-4E58-B6E2-94E1DDDC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3346" y="2937155"/>
            <a:ext cx="104466" cy="1044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82B342-8AFB-4B38-B5AC-7BBF0492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968" y="3017358"/>
            <a:ext cx="49293" cy="492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205DC0-E2D0-4FF5-9F81-7A249009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0238" y="3314609"/>
            <a:ext cx="48976" cy="489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D66968-71C2-4E70-92E9-2C61B168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630" y="3317730"/>
            <a:ext cx="59067" cy="590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A6F740-0441-4FFB-9C52-741AEAEA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321" y="2515548"/>
            <a:ext cx="111314" cy="1113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53E9BD-4C3A-489D-923A-DECB66DE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1784" y="3025788"/>
            <a:ext cx="85068" cy="850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CFD050-1859-495D-96A9-9C16C1C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195" y="2584674"/>
            <a:ext cx="88280" cy="88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3A34BD-07B2-4D4F-B153-1AB1573B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029" y="3309932"/>
            <a:ext cx="76498" cy="764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6B5DC5-6FD5-4D8F-88F8-F490B344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562" y="2937786"/>
            <a:ext cx="81473" cy="814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84A0CD-FD78-4BCC-9C2B-5B5E58D8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167" y="2709662"/>
            <a:ext cx="58755" cy="58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F86B14-52D1-4BC9-A6D7-967F44EA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120" y="2990684"/>
            <a:ext cx="40094" cy="400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D2DE68-E6A3-4A78-AFA4-F01F33E1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795" y="3269678"/>
            <a:ext cx="57240" cy="5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1BA940-F948-4BE6-95F4-694692CF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469" y="3035468"/>
            <a:ext cx="65743" cy="657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6713CA-5E73-418C-A5B8-5E858130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516" y="2653180"/>
            <a:ext cx="97353" cy="973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243A3C-0606-4B93-ACE3-57D64D48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310" y="2487938"/>
            <a:ext cx="107620" cy="1076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1C0C71-57ED-4A70-99B0-EE5D8A9F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128" y="2904868"/>
            <a:ext cx="52094" cy="520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4184DA-EBE8-4D7F-A4B7-599BD83E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0243" y="2516495"/>
            <a:ext cx="38724" cy="38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9D57A01-DE91-4887-8A5C-D23CD299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132" y="2564243"/>
            <a:ext cx="99262" cy="992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50775F9-E3EC-435E-9122-AA68753C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068" y="2536937"/>
            <a:ext cx="113056" cy="113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90CD6AE-AE18-4684-90A0-57F7179F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327" y="2799703"/>
            <a:ext cx="111858" cy="1118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3B75372-F033-4901-B738-EAD8C3F3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9284" y="2841366"/>
            <a:ext cx="51216" cy="51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F165FCC-7F4D-47E1-9E69-596ECA4C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314" y="3027050"/>
            <a:ext cx="39082" cy="390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7A418D-08A7-4F19-9752-51AF7B07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692" y="2845581"/>
            <a:ext cx="107204" cy="1072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69D0FD2-53E9-414E-A092-2FE6F5B4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793" y="2662083"/>
            <a:ext cx="58734" cy="587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6A8D12F-B36E-47D4-A61A-810BEFE2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992" y="2841682"/>
            <a:ext cx="77820" cy="77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086A991-800E-4692-8FB9-180F5088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63" y="2873202"/>
            <a:ext cx="43813" cy="43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7D4EBC0-560B-4A8A-9A55-B96C5AC9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5683" y="3121768"/>
            <a:ext cx="64663" cy="646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60C31B1-7AD2-485E-A96A-827277FC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926" y="3076207"/>
            <a:ext cx="95920" cy="9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E7327D7-0C47-4254-92A2-3A8E1C25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566" y="3101641"/>
            <a:ext cx="93134" cy="931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AF69B74-3FAB-41FD-9448-56463067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79" y="2686898"/>
            <a:ext cx="88055" cy="88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A2985F3-02F3-4AF5-ACBE-2D41AF3A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6241" y="3073401"/>
            <a:ext cx="112433" cy="1124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3EAE75C-FFE5-4B5A-B852-3A5AF88A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25" y="2873675"/>
            <a:ext cx="45618" cy="456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40DCD29-EC24-400A-8AA9-B70343AE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407" y="2452846"/>
            <a:ext cx="71760" cy="71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737BBDA-5600-4332-9700-12F15E0A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862" y="3052338"/>
            <a:ext cx="70209" cy="702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15352A6-B856-47A9-8C3B-642FC567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2665" y="3284677"/>
            <a:ext cx="72714" cy="727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1D1705-94BD-4674-970B-CE24BAE6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191" y="2638688"/>
            <a:ext cx="111027" cy="111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AFB4F34-8817-49A5-AC37-1A8E21A9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814" y="3232095"/>
            <a:ext cx="64497" cy="644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4D96769-B280-434E-A9D5-C00640C9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711" y="2801123"/>
            <a:ext cx="41073" cy="410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A9B5AFC-7FA4-4842-8222-4FD26143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356" y="2587198"/>
            <a:ext cx="72507" cy="725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C7A37FC-28D7-48F6-BCE5-2562C1C6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123" y="2955445"/>
            <a:ext cx="38147" cy="381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6512D48-EF96-4510-B87E-D9D95B3E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189" y="2518388"/>
            <a:ext cx="45944" cy="459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1AD18CC-F91D-4415-8979-05B0A1EB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7" y="2517453"/>
            <a:ext cx="51449" cy="514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3624A33-83F0-4287-99DF-24C8AF1D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6713" y="3317764"/>
            <a:ext cx="86410" cy="864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5F3E637-673D-4AC3-BB23-841B16C8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3922" y="2655547"/>
            <a:ext cx="106378" cy="1063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7B92633-B59E-4CEC-A7CC-1EDC79D2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729" y="2648526"/>
            <a:ext cx="66903" cy="669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9CCB3A8-D9B3-4297-8FE0-1033935B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2710" y="2785527"/>
            <a:ext cx="75935" cy="759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C893155-1FC1-4B9A-A3A2-4B26C815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0937" y="2555374"/>
            <a:ext cx="89024" cy="89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84E3405-C272-42A5-B75D-C99E9086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888" y="3199493"/>
            <a:ext cx="61720" cy="61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CA2590B-52E9-4C40-8D4E-4AC47D9A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1937" y="2454108"/>
            <a:ext cx="101973" cy="1019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FFF3DE0-9FD4-44D1-B2CF-4AC6FC90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1359" y="3313245"/>
            <a:ext cx="89133" cy="891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9385BB0-CC4E-44DF-896B-AA40D9DB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428" y="2636828"/>
            <a:ext cx="54950" cy="5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29FED82-4B60-4B2E-8BC9-5D827F87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621" y="2542583"/>
            <a:ext cx="107374" cy="1073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62B5649-94B9-4A1A-AFC4-BD0A416D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111" y="2519335"/>
            <a:ext cx="49554" cy="495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2EAC742-641C-4832-8C23-4F798887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275" y="2932208"/>
            <a:ext cx="65642" cy="656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C8A0169-D78D-4B68-BE4F-0C411D88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486" y="3270027"/>
            <a:ext cx="111187" cy="1111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2E24121-0531-4C6D-B185-4397D4E2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120" y="3021618"/>
            <a:ext cx="65538" cy="65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50FB5A6-3299-492E-B353-2F2102D1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452" y="2552106"/>
            <a:ext cx="112847" cy="1128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D7C6626-0647-4563-B276-65064F9E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857" y="3102915"/>
            <a:ext cx="56262" cy="562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00F8715-D36E-43D5-90A8-081AF952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510" y="3286571"/>
            <a:ext cx="79935" cy="799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96BFCC3-EA81-4730-8159-B41ADB06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8986" y="2591898"/>
            <a:ext cx="63214" cy="63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8BC6D51-3B7C-4A34-8CCA-9D069167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460" y="3136621"/>
            <a:ext cx="114050" cy="114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31F909B-5908-4AF3-8D95-8DC75FBC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306" y="2656967"/>
            <a:ext cx="111793" cy="1117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5229370-5DF7-42A8-974A-91FAE429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3801" y="3270658"/>
            <a:ext cx="88193" cy="88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4030098-3FCC-4895-9B68-E216D0C5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18" y="2713922"/>
            <a:ext cx="75001" cy="750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2893006-B22A-46B5-A550-1761684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334" y="3104481"/>
            <a:ext cx="103965" cy="1039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594E55B-C34F-4EEE-BB48-C7A52EE4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2022" y="3054863"/>
            <a:ext cx="54436" cy="544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DEC9166-6635-4E8D-B10D-C7641E38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58" y="2930191"/>
            <a:ext cx="110563" cy="1105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200CC25-5B1F-4A20-AB34-71C7ADC3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718" y="3095590"/>
            <a:ext cx="75498" cy="754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E0D8203-1553-4750-8D19-043B0798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475" y="3039886"/>
            <a:ext cx="57190" cy="571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D259A77-F39B-47F6-B607-48DE38C6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305" y="3128203"/>
            <a:ext cx="87389" cy="87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C1E8825-7C5A-4542-B6A8-CF1C98F9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483" y="2849367"/>
            <a:ext cx="45445" cy="454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A978BCB-C0F5-424F-B0F1-094F744B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384" y="2568503"/>
            <a:ext cx="39307" cy="393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004585C-05AF-4B23-892A-3B6AC762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282" y="2650735"/>
            <a:ext cx="100727" cy="10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2AAB6EF-DD91-476E-BD77-95AC83D3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554" y="2584888"/>
            <a:ext cx="109053" cy="1090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58970BD-A18A-428D-BBA2-0B21EFFB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574" y="2736088"/>
            <a:ext cx="96037" cy="960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20374E2-50B8-43F6-BDA7-E5D54BBE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516" y="2593160"/>
            <a:ext cx="93427" cy="934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8D071F2-4A4B-4962-B13A-26CCBD3C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4957" y="2521228"/>
            <a:ext cx="56775" cy="56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33F5587-8CBB-4C9E-8362-0ED40612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070" y="2885418"/>
            <a:ext cx="94029" cy="94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F4D9D90-0BDA-462A-B68C-F1A85257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231" y="3174554"/>
            <a:ext cx="84540" cy="845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D483EF0-064F-456E-810D-F93139D4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715" y="2877462"/>
            <a:ext cx="60058" cy="600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D53D88C-A66E-478D-9EF7-02F19FA5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897" y="3235566"/>
            <a:ext cx="52334" cy="52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C9F9A10-57C2-4859-9ED9-2095D1DA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4152" y="2861391"/>
            <a:ext cx="93116" cy="931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AA127B1-4767-4EFA-8DDD-EB907086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755" y="2996364"/>
            <a:ext cx="61755" cy="61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F7345E9-505B-467C-B141-698BF74A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081" y="3129308"/>
            <a:ext cx="66201" cy="662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98FF85B-A7CE-47A2-9CFF-2508A96A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405" y="2749048"/>
            <a:ext cx="62004" cy="6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3194246-D036-4FC2-9B5A-FF94FCCF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86125"/>
            <a:ext cx="28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ξ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CEE62DD-5433-44F6-802C-443DB1B9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867150"/>
            <a:ext cx="7162800" cy="22098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11430">
            <a:solidFill>
              <a:srgbClr val="F4B26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1076267-3EC8-4C57-86EE-97DF3125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43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3E18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9B3E18"/>
                </a:solidFill>
                <a:latin typeface="SimSun"/>
                <a:ea typeface="SimSun"/>
                <a:cs typeface="SimSun"/>
              </a:rPr>
              <a:t>确定性解码器  Tₓ(ξ)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4174526-9880-4C79-892C-8C6B65BB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78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  <a:p xmlns:a="http://schemas.openxmlformats.org/drawingml/2006/main">
            <a:pPr algn="ctr">
              <a:defRPr sz="135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(ϕ(X))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3500F78-D93B-452A-817C-6D1F0907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ξ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DFD8262-6A30-41F9-B32F-7BF1F03E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1285875" cy="1381125"/>
          </a:xfrm>
          <a:custGeom xmlns:a="http://schemas.openxmlformats.org/drawingml/2006/main">
            <a:pathLst>
              <a:path w="1285875" h="1381125">
                <a:moveTo>
                  <a:pt x="0" y="0"/>
                </a:moveTo>
                <a:lnTo>
                  <a:pt x="1285875" y="323850"/>
                </a:lnTo>
                <a:lnTo>
                  <a:pt x="1285875" y="1047750"/>
                </a:lnTo>
                <a:lnTo>
                  <a:pt x="0" y="1381125"/>
                </a:lnTo>
                <a:close/>
              </a:path>
            </a:pathLst>
          </a:custGeom>
          <a:solidFill xmlns:a="http://schemas.openxmlformats.org/drawingml/2006/main">
            <a:srgbClr val="FFB480"/>
          </a:solidFill>
          <a:ln xmlns:a="http://schemas.openxmlformats.org/drawingml/2006/main" w="12383">
            <a:solidFill>
              <a:srgbClr val="D96A2F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7D3B94B-E399-4CD6-A617-4159BAF6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86300"/>
            <a:ext cx="119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13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13214"/>
                </a:solidFill>
                <a:latin typeface="Microsoft YaHei"/>
                <a:ea typeface="Microsoft YaHei"/>
                <a:cs typeface="Microsoft YaHei"/>
              </a:rPr>
              <a:t>解码器</a:t>
            </a:r>
          </a:p>
          <a:p xmlns:a="http://schemas.openxmlformats.org/drawingml/2006/main">
            <a:pPr algn="ctr">
              <a:defRPr sz="1350" b="1">
                <a:solidFill>
                  <a:srgbClr val="713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13214"/>
                </a:solidFill>
                <a:latin typeface="Microsoft YaHei"/>
                <a:ea typeface="Microsoft YaHei"/>
                <a:cs typeface="Microsoft YaHei"/>
              </a:rPr>
              <a:t>Tₓ(ξ)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B4E00F0-7367-430A-8BF1-7CB68B9D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610100"/>
            <a:ext cx="428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243C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98153C1-E8BA-4C63-B4FA-74CEC496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457825"/>
            <a:ext cx="428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243C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8CDA941-E535-48CB-89E8-6CFC2D28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10025"/>
            <a:ext cx="1362075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8BBCE8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C878DEB-D467-4957-A738-AD8962AC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67175"/>
            <a:ext cx="1266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位置场</a:t>
            </a:r>
          </a:p>
          <a:p xmlns:a="http://schemas.openxmlformats.org/drawingml/2006/main">
            <a:pPr algn="ctr">
              <a:defRPr sz="1200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μθ(ϕ(X))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C8FEB32-3196-4C2C-855A-9EA0508A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667250"/>
            <a:ext cx="1362075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8BBCE8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F26B7F1-F3F9-46E6-9676-8B9045C9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24400"/>
            <a:ext cx="1266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传输场</a:t>
            </a:r>
          </a:p>
          <a:p xmlns:a="http://schemas.openxmlformats.org/drawingml/2006/main">
            <a:pPr algn="ctr">
              <a:defRPr sz="1200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Sθ(ϕ(X))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53D89FE-7535-49DB-B490-B6DAE3E5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324475"/>
            <a:ext cx="1362075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8BBCE8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D8BF9AE-5EF2-4A49-8844-DC3C5C9A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381625"/>
            <a:ext cx="1266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潜变量变形</a:t>
            </a:r>
          </a:p>
          <a:p xmlns:a="http://schemas.openxmlformats.org/drawingml/2006/main">
            <a:pPr algn="ctr">
              <a:defRPr sz="1200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Γθ(ξ)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1FA6CA3-00BF-4D0A-BEFA-4B3EA778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76725"/>
            <a:ext cx="3238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2243C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6854E4A-87EB-4350-A296-4789FECB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24425"/>
            <a:ext cx="323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2243C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B5313C7-8599-4B85-84E7-15642C56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24425"/>
            <a:ext cx="32385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2243C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9AE45F8-E246-4A7C-A2E8-A9364867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67200"/>
            <a:ext cx="171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2243C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C27061A-FDE7-4DE4-B9C5-1838B259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67200"/>
            <a:ext cx="953" cy="1323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2243C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7D55EC1-DE9D-42C0-9042-8A420723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24425"/>
            <a:ext cx="171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2243C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6DD6E1A-1D39-4879-A261-1D1F2093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581650"/>
            <a:ext cx="171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2243C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788A52C-4C7A-45B9-9959-DBE466DE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829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7B4C26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E2358A7-EA6E-423F-BFA8-FD757C7E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829175"/>
            <a:ext cx="257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B4C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B4C26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2BBDA99-028E-4EB7-A429-5B7A7B0E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972050"/>
            <a:ext cx="3143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2243C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174763E-2C67-4B1E-A9D4-AEE0A530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8387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ŷ = Tₓ(ξ)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BE68DAF-92BA-4443-A2BD-A4805AE5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528" y="4794254"/>
            <a:ext cx="74654" cy="746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FF559B4-524A-417F-80CD-1EE5C2D1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330" y="4601865"/>
            <a:ext cx="39059" cy="390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B75F769-07FA-4B9A-A070-7463B255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65" y="5226730"/>
            <a:ext cx="39272" cy="392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894E8EC-7C24-473E-BCEA-C6E90376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095" y="5371862"/>
            <a:ext cx="107042" cy="1070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5B48EE0-637B-4D36-82CE-E0247ED7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683" y="5378572"/>
            <a:ext cx="45518" cy="455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2093190-1696-4C1B-A6DB-07941DAD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442" y="4769024"/>
            <a:ext cx="38852" cy="388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C64DFE7-C4C2-464C-BAE4-5A888729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34" y="4703680"/>
            <a:ext cx="42592" cy="42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66A93D1-AA33-48DE-8469-6DC86455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121" y="4704701"/>
            <a:ext cx="88489" cy="884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240B5BB-279C-408E-936A-4D45E256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666" y="5113402"/>
            <a:ext cx="55894" cy="558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A604981D-C9E1-422A-963F-330BA313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182" y="4632794"/>
            <a:ext cx="52755" cy="52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FDDE2D7-9107-4B50-9634-DA28CF81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130" y="5242490"/>
            <a:ext cx="110823" cy="1108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1CF2B41-4653-4769-8C04-9D3A53DF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825" y="4826352"/>
            <a:ext cx="109448" cy="1094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D7C619D-7408-4D51-A4D3-2A431F10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27" y="5363993"/>
            <a:ext cx="80380" cy="803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FBBCE5E-B5C3-43C3-91FA-3A5B127E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799" y="4739275"/>
            <a:ext cx="55369" cy="553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CA14CD4D-95BE-49A8-8709-D5D696F2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0555" y="4931811"/>
            <a:ext cx="66165" cy="661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7099D05E-1174-4C56-8D52-CF571AD2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156" y="4644614"/>
            <a:ext cx="68318" cy="683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2FB54ABA-165A-4EEB-B318-900F54CB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9465" y="5038145"/>
            <a:ext cx="93578" cy="935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8161D8D7-7082-4732-8B23-95C34B9A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945" y="4815417"/>
            <a:ext cx="97495" cy="974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10947F7-E11E-450F-932A-2793F395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757" y="5136894"/>
            <a:ext cx="111819" cy="1118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C0001C7-169E-460D-942D-3F6E0FC4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066" y="4705586"/>
            <a:ext cx="92099" cy="92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5CB63243-AFE8-4713-B50B-FCC5A7A0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332" y="4681958"/>
            <a:ext cx="70087" cy="700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AB6CE238-2A38-4547-8E5C-C31A03DB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6718" y="5407321"/>
            <a:ext cx="77532" cy="775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F9FDE08B-8E39-4130-BAFC-E50D1AC2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388" y="4765537"/>
            <a:ext cx="69983" cy="6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7C4CC47-9EEA-46E7-BC50-5ED6DE02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803" y="4736220"/>
            <a:ext cx="79192" cy="791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765DA35-10B9-4957-97B5-5EBA618B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976" y="4841532"/>
            <a:ext cx="60707" cy="607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7EC134BB-994C-416F-A9D8-EF7F02D2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219" y="4603635"/>
            <a:ext cx="46280" cy="46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3188267-C8A7-43DD-998B-0441D658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846" y="5182992"/>
            <a:ext cx="67659" cy="676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AD936D2-D9D2-4ED5-868E-D11A1B86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017" y="5282615"/>
            <a:ext cx="80395" cy="803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53AE3CAF-9B77-41A1-8FA8-471EAEB7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197" y="5243817"/>
            <a:ext cx="40038" cy="400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73EA7935-BFB2-45C5-AFDC-A50F071D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398" y="5407911"/>
            <a:ext cx="54538" cy="54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BEA4031-602E-4E49-9E62-00A60EAB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931" y="5297058"/>
            <a:ext cx="79446" cy="794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CC0C4DB-E951-4B94-967E-0457D298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5110" y="5252571"/>
            <a:ext cx="70310" cy="7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B5A1E478-DC85-4726-B4E9-C341C2DE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1097" y="4796614"/>
            <a:ext cx="58881" cy="588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5E2B15A4-0B4C-40CF-A98E-675BBA4F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204" y="5089647"/>
            <a:ext cx="76908" cy="769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7C12CDD-C665-42AB-81F5-3972F371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595" y="4834685"/>
            <a:ext cx="79943" cy="799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66101B93-6C4A-4D5E-BDDE-404CF7C1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731" y="5192188"/>
            <a:ext cx="99735" cy="997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EC7B4A4A-68B2-4D6F-865D-D854D41C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3624" y="4865171"/>
            <a:ext cx="91834" cy="918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A036CC5A-E065-4175-8E92-D83776CD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739" y="5014095"/>
            <a:ext cx="87990" cy="87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D680F64-17DE-4D10-A8F6-1C0F7BD3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8086" y="5161123"/>
            <a:ext cx="43752" cy="437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1438565-4169-49E8-BCC0-020440F6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3979" y="4828417"/>
            <a:ext cx="67072" cy="670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D248EC4A-6A98-4669-9BCA-5C9069B4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880" y="5176440"/>
            <a:ext cx="113498" cy="1134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560CFABD-4DCF-4E03-AB35-54A0D5B0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8801" y="4908204"/>
            <a:ext cx="62382" cy="623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066CA83-62F9-4B4B-B7CE-729C49A0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2055" y="5184172"/>
            <a:ext cx="97872" cy="97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666389E7-13E0-4665-80FE-8C2EB5D4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0955" y="4707356"/>
            <a:ext cx="99320" cy="99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1C11642C-4515-46BF-94EE-C250A664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6812" y="4638219"/>
            <a:ext cx="98474" cy="984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758999C6-8060-4B01-9188-F9BF193A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641" y="5318074"/>
            <a:ext cx="50885" cy="50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8C23AEF6-6996-45AF-AE9C-CC7E1C09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902" y="4630782"/>
            <a:ext cx="64503" cy="645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AB11338-8DAA-4A93-890F-049A552D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608" y="5375107"/>
            <a:ext cx="94879" cy="948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1E99D1A3-664B-4B5F-B68A-D13044F0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1373" y="4615760"/>
            <a:ext cx="97561" cy="975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F9F55BB8-9F37-4165-BBE8-982C043B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1058" y="5151505"/>
            <a:ext cx="104300" cy="10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13CFA683-25D5-4DD0-8FB5-6E2949BD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276" y="4866203"/>
            <a:ext cx="70646" cy="706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337B570-2D39-42F6-8D9F-EB58E56B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3040" y="4920318"/>
            <a:ext cx="104549" cy="104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88D68E16-C012-4ACF-9269-2F80CA1F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662" y="4836012"/>
            <a:ext cx="85359" cy="853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340633A8-2D98-4B76-BEE9-70592BAF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304" y="4954597"/>
            <a:ext cx="44825" cy="4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29F01C4D-48E2-4907-9987-FC9D9D45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279" y="4798236"/>
            <a:ext cx="90899" cy="90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2364D2B5-39F8-47DE-9F31-E50E6176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049" y="4708241"/>
            <a:ext cx="102930" cy="1029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9D56A21E-8500-432A-8027-FFE9820A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478" y="5025925"/>
            <a:ext cx="112667" cy="112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250F2EE3-193B-4134-BDF2-124E1BC1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5177" y="5273450"/>
            <a:ext cx="75662" cy="756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2D62BBD9-579B-4D2D-8244-D4691CF4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009" y="4972979"/>
            <a:ext cx="99864" cy="99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923C685E-DDCB-465D-ABD4-828EAB78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586" y="5284975"/>
            <a:ext cx="64622" cy="64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FD79D9A8-E71A-4C92-91BA-3A527365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072" y="4912449"/>
            <a:ext cx="77887" cy="778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21D5794E-44B7-40BD-9096-5D53EAF0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628" y="5015865"/>
            <a:ext cx="95210" cy="952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44FF4AF1-AEE9-4B71-969E-C199DED0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417" y="5117384"/>
            <a:ext cx="72139" cy="72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3FEC6249-C89F-42F3-8411-21F23311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901" y="4739170"/>
            <a:ext cx="40425" cy="404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4A249EAF-CD6A-4287-BD51-DDC87801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7244" y="5041684"/>
            <a:ext cx="108019" cy="1080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247B6767-239C-4752-A55F-1C055192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757" y="4727940"/>
            <a:ext cx="78069" cy="780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0755783D-BB15-497D-9082-5820C735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3" y="4958400"/>
            <a:ext cx="58526" cy="585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918C58D1-0705-41F4-9CF2-B46DACB1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944" y="5255226"/>
            <a:ext cx="81140" cy="811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60A54308-046D-471E-A19A-A6251499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243" y="5140581"/>
            <a:ext cx="101461" cy="101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52875E61-DEF3-4CD1-A01C-62C62060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513" y="4955777"/>
            <a:ext cx="75039" cy="75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C64E5951-094A-4A23-A7EE-F5A7E243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366" y="5042127"/>
            <a:ext cx="109824" cy="1098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03B336D4-74CB-439B-9C71-D0091DE8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664" y="4921793"/>
            <a:ext cx="85165" cy="851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AF91B231-2742-4F3A-AD58-BE1C3F18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7721" y="4936088"/>
            <a:ext cx="109014" cy="1090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B42C536-9A44-45C8-A4BC-98327FAD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997" y="4607175"/>
            <a:ext cx="60720" cy="60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64DE83AD-9320-48F0-8251-BE11B3E5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5657" y="5095515"/>
            <a:ext cx="48233" cy="482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B41171B2-A38F-4A4E-92AE-53EAE9E1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013" y="5104121"/>
            <a:ext cx="103302" cy="1033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AD5870BC-8099-49BE-9364-71DDB29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076" y="4974307"/>
            <a:ext cx="105279" cy="1052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E8A3920-F719-4CD1-837C-8D27CB52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160" y="5047383"/>
            <a:ext cx="85912" cy="85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9F651B7E-E137-45A7-883F-DE613371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726" y="4845514"/>
            <a:ext cx="76953" cy="769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86C01AB3-A0BA-473E-8D94-F0D6DD31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939" y="4710011"/>
            <a:ext cx="110150" cy="11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649F728F-0BDE-4796-BD27-2276F7A1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959" y="4982186"/>
            <a:ext cx="64854" cy="648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5569D64C-3CBB-413A-A30E-EF55CE44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099" y="5184203"/>
            <a:ext cx="49016" cy="49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680F8C14-23A9-4D97-B5B6-E3FD2BE1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523" y="4838224"/>
            <a:ext cx="94384" cy="94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28DFCAB4-A0E8-486C-AF54-6676E6D3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0542" y="5104711"/>
            <a:ext cx="80309" cy="803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45933094-90E2-4F0D-91BF-B2BADC11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469" y="4686677"/>
            <a:ext cx="38541" cy="385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D8C0BAC-0597-4524-A6CB-D9333008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67" y="4744584"/>
            <a:ext cx="77030" cy="77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4D0C27B5-898B-4B6A-BA07-4CEACC99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848" y="4800596"/>
            <a:ext cx="75126" cy="751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ABC0D683-0824-40B6-A3B4-1E346E5F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924" y="5196023"/>
            <a:ext cx="64579" cy="645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CA4A1151-0290-4470-829A-7A5682EF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708" y="4633879"/>
            <a:ext cx="77139" cy="77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6C6A0AE7-EA7C-4463-BCD6-66BB625B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663" y="5093777"/>
            <a:ext cx="68356" cy="683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4173A434-2BD9-4AEE-924A-2AC0BD18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72200"/>
            <a:ext cx="5381625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11430">
            <a:solidFill>
              <a:srgbClr val="8D79C9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4FB1471A-2330-43AA-98F5-2B63BB17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2674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351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3519D"/>
                </a:solidFill>
                <a:latin typeface="Microsoft YaHei"/>
                <a:ea typeface="Microsoft YaHei"/>
                <a:cs typeface="Microsoft YaHei"/>
              </a:rPr>
              <a:t>联合训练目标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EA78CE2F-E189-40BC-85D2-4156DD96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5913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ℒ(ψ, θ) =  1/B  ∑  ‖yᵢ − Tₓᵢ(ξᵢ)‖² +  λₖₗ/B  ∑∑  max[Dᵢ,ₖ, τ]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712557F5-E031-4BDA-A573-7965E5BD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076950"/>
            <a:ext cx="953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5C49A8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B20466D-4D94-4CCB-A3C1-32109CC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695950"/>
            <a:ext cx="953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49A8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9638E071-A2DB-47B5-BA8E-0AED6745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715000"/>
            <a:ext cx="953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49A8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619DB604-C0A6-4FFA-BD1D-0A0CED5C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705600"/>
            <a:ext cx="828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反向传播更新</a:t>
            </a:r>
          </a:p>
          <a:p xmlns:a="http://schemas.openxmlformats.org/drawingml/2006/main">
            <a:pPr algn="ctr">
              <a:defRPr sz="1125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(ψ, θ)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05665E7D-DD2A-42E0-BA15-F9BD6323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81125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利用训练好的编码器，对所有样本</a:t>
            </a:r>
          </a:p>
          <a:p xmlns:a="http://schemas.openxmlformats.org/drawingml/2006/main">
            <a:pPr algn="ctr">
              <a:defRPr sz="1350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构建经验潜变量总体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91282A1B-D2B4-4616-B85D-E5BC0ACC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990725"/>
            <a:ext cx="3695700" cy="2028825"/>
          </a:xfrm>
          <a:prstGeom xmlns:a="http://schemas.openxmlformats.org/drawingml/2006/main" prst="roundRect">
            <a:avLst>
              <a:gd name="adj" fmla="val 6573"/>
            </a:avLst>
          </a:prstGeom>
          <a:solidFill xmlns:a="http://schemas.openxmlformats.org/drawingml/2006/main">
            <a:srgbClr val="F9FFFC"/>
          </a:solidFill>
          <a:ln xmlns:a="http://schemas.openxmlformats.org/drawingml/2006/main" w="11430">
            <a:solidFill>
              <a:srgbClr val="64C4A4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68DF8196-587A-4F37-86FB-A79F5999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143125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训练好的编码器（冻结）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AED94ACA-0DEC-4A3A-8C66-C7BB8CC2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95575"/>
            <a:ext cx="59055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85BDE8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4CDBF466-100C-4C04-8BD2-5ACC817D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717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Xᵢ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B6CBDBAD-CED0-4337-BDB3-4EEF923B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59055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85BDE8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D8AA9D67-DF5A-49B6-8A81-54A8E0FF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yᵢ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568354C7-7D03-4056-B811-7C1C2C3B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38400"/>
            <a:ext cx="1276350" cy="1390650"/>
          </a:xfrm>
          <a:custGeom xmlns:a="http://schemas.openxmlformats.org/drawingml/2006/main">
            <a:pathLst>
              <a:path w="1276350" h="1390650">
                <a:moveTo>
                  <a:pt x="0" y="0"/>
                </a:moveTo>
                <a:lnTo>
                  <a:pt x="1276350" y="276225"/>
                </a:lnTo>
                <a:lnTo>
                  <a:pt x="1276350" y="942975"/>
                </a:lnTo>
                <a:lnTo>
                  <a:pt x="0" y="1390650"/>
                </a:lnTo>
                <a:close/>
              </a:path>
            </a:pathLst>
          </a:custGeom>
          <a:solidFill xmlns:a="http://schemas.openxmlformats.org/drawingml/2006/main">
            <a:srgbClr val="8EC0EA"/>
          </a:solidFill>
          <a:ln xmlns:a="http://schemas.openxmlformats.org/drawingml/2006/main" w="11430">
            <a:solidFill>
              <a:srgbClr val="5D92C4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90B4A885-C916-49FA-9884-B69A768F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80987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编码器</a:t>
            </a:r>
          </a:p>
          <a:p xmlns:a="http://schemas.openxmlformats.org/drawingml/2006/main">
            <a:pPr algn="ctr">
              <a:defRPr sz="1275" b="1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qψ(ξ|X, y)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0779F16A-028D-4A5C-B4EE-67C0199B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95600"/>
            <a:ext cx="30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2243C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E7C06E18-F754-4681-B7B4-DB9B848E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62325"/>
            <a:ext cx="30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2243C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6C1B29D9-DBCE-470C-90F8-D4654149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943225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6FBFF"/>
          </a:solidFill>
          <a:ln xmlns:a="http://schemas.openxmlformats.org/drawingml/2006/main" w="9525">
            <a:solidFill>
              <a:srgbClr val="85BDE8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BE342653-AB93-4DB9-AFDE-A4F6BA6A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0194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ξᵢ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8DCB2781-DC36-4396-A217-4F059C1C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86100"/>
            <a:ext cx="285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243C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2E0F5D9D-CADB-472F-AFA7-38F26540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457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AEE4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C9CE718E-0259-4F1D-86A0-645B7B4A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695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1C8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35B7EF99-91F7-4D55-B80C-29BDE9C6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933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9ED7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D569E145-463A-4081-A61B-1C0A956F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B8EA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F38BE23E-5371-45F2-8152-2557A385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6766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i = 1, ⋯ , M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70F3D55F-B560-4693-9AAF-F037896C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29075"/>
            <a:ext cx="953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A984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30951826-1B9C-4579-A3A4-393393E1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381500"/>
            <a:ext cx="3695700" cy="2781300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FCFFFD"/>
          </a:solidFill>
          <a:ln xmlns:a="http://schemas.openxmlformats.org/drawingml/2006/main" w="11430">
            <a:solidFill>
              <a:srgbClr val="59B999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237F245D-17CB-4AEE-81D6-B8E4AD8C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524375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经验潜变量总体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E55BA879-7F9F-46C2-81D4-94618326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019800"/>
            <a:ext cx="1447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2243C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746C65AD-5332-4406-82DC-52039F95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991100"/>
            <a:ext cx="953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2243C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54A6F28F-71A5-4F2F-8EA6-AA4DE2D8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019800"/>
            <a:ext cx="38100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2243C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F7C73D1F-D1DD-4EE2-AC4C-E3B0818C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1" y="5724685"/>
            <a:ext cx="53963" cy="539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AE20F9E1-A388-43FE-B72C-C5C1CC3E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1280" y="5286495"/>
            <a:ext cx="40005" cy="400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6B6F374D-93BC-49C1-B997-2B899252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530" y="5675876"/>
            <a:ext cx="104188" cy="1041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29EB2849-F0BC-4247-948E-3CA884FE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396" y="5414868"/>
            <a:ext cx="49662" cy="496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5A46508D-585B-4777-9524-79F7643F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222" y="5825857"/>
            <a:ext cx="60575" cy="60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CDBA2314-F6AD-4000-85E4-8DD76322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3600" y="5430882"/>
            <a:ext cx="92479" cy="924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635C1C90-F5A7-4DDA-9549-6A534095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875" y="5552329"/>
            <a:ext cx="100923" cy="1009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F1AD5F2A-6CA4-48E5-B6F4-8BB75C05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0390" y="5645686"/>
            <a:ext cx="41458" cy="414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3A9D07C4-CAB4-43F0-A677-EC5946AA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8615" y="5166440"/>
            <a:ext cx="98232" cy="98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C1467B26-66E0-4090-A10A-8D344C28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142" y="5436980"/>
            <a:ext cx="74397" cy="743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73A044D0-63B0-40B2-B235-140511F2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067" y="5912792"/>
            <a:ext cx="77902" cy="779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1A5F5BCA-DD96-4ACA-8959-BAB10903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5981" y="6049364"/>
            <a:ext cx="64298" cy="6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8F7F0914-575F-4E37-A667-2A4DF76D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355" y="5302184"/>
            <a:ext cx="65334" cy="65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D6124D58-783D-490C-8255-A0CAC04A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407" y="5927089"/>
            <a:ext cx="112760" cy="112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91994C5E-5C87-4098-8CCA-73930027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731" y="5512667"/>
            <a:ext cx="85926" cy="85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996CD63F-F321-4CEB-85E4-DBA4DD44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795" y="5381304"/>
            <a:ext cx="92783" cy="927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227B369F-EC7F-4D1D-AED2-66297407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818" y="5921939"/>
            <a:ext cx="88880" cy="88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A216A06E-B15C-43CC-AA43-AAA419B7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269" y="5656609"/>
            <a:ext cx="105967" cy="1059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E585E6E6-2062-4F21-B8B9-465D5569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4617" y="5907702"/>
            <a:ext cx="99594" cy="995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9A4E59D2-139D-4998-95C8-F74815A6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330" y="5197255"/>
            <a:ext cx="101512" cy="1015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88D749AB-59F6-42E4-BF86-76092483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753" y="5781105"/>
            <a:ext cx="67270" cy="672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BB1C74A6-1435-4331-A691-328CF35E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353" y="5247841"/>
            <a:ext cx="104818" cy="1048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83627A5F-C71E-4ABD-938F-DFAD4354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475" y="5853299"/>
            <a:ext cx="93507" cy="935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4E2BB23F-8848-445F-ACEA-A6869FC4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463" y="5186067"/>
            <a:ext cx="65086" cy="650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E1D6FE9C-DD6C-4B82-958B-C9264B75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910" y="5501983"/>
            <a:ext cx="51305" cy="51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9AF23342-BA3D-46E9-9063-FE311E9F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7159" y="5323083"/>
            <a:ext cx="83914" cy="839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5C0C8E89-3FD0-4F39-A625-FC51227C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681" y="5971757"/>
            <a:ext cx="42264" cy="422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84CE154F-0ED7-4DCE-94F1-CF74663E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818" y="5970040"/>
            <a:ext cx="110504" cy="110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AEFACC73-2E60-45EC-8330-702D166E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039" y="5706871"/>
            <a:ext cx="91784" cy="917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AAA5CD2C-386E-49E9-9D95-5E4162EA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688" y="5571187"/>
            <a:ext cx="94055" cy="94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7BB0C8E7-CF44-4845-A6EF-7F407F5E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6109" y="5951926"/>
            <a:ext cx="72866" cy="728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63776419-577D-4E1F-95F6-1CB1EB60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7020" y="5371124"/>
            <a:ext cx="59967" cy="599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B78F361B-2A60-4DC6-BCBE-8424239A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8515" y="5151171"/>
            <a:ext cx="87108" cy="871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71BB9B70-497A-491C-8C1D-2CD6E20E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189" y="5681002"/>
            <a:ext cx="109840" cy="109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8D96C864-BFCE-4478-8467-221B3889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8509" y="5482656"/>
            <a:ext cx="83712" cy="837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68390B4F-7862-4948-B164-1E217D5D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5694" y="5878520"/>
            <a:ext cx="40474" cy="404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20EF721F-695F-4B9A-8399-5B21C713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339" y="5390631"/>
            <a:ext cx="88076" cy="880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B83885A2-4EFF-4D39-85FA-D859D23A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662" y="5341378"/>
            <a:ext cx="105869" cy="1058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978BDF17-B69C-4776-A3EB-59DF2FC6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8256" y="5186247"/>
            <a:ext cx="49402" cy="49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4D3D6E00-5C55-4AA6-9208-E3AF66B1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591" y="5314176"/>
            <a:ext cx="102825" cy="102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0E12867F-6EF7-4724-8E06-C5082B53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885" y="5180653"/>
            <a:ext cx="69289" cy="692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378CB697-04F1-4D93-86F5-A79FC51C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607" y="5174615"/>
            <a:ext cx="56743" cy="567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5A646B50-B2D5-4A76-A536-D1D22AEF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1" y="5684999"/>
            <a:ext cx="96937" cy="969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181582CA-F50A-4399-9796-F96DE152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335" y="5233844"/>
            <a:ext cx="69221" cy="692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C07B6467-2CC1-4021-B65D-B92E0245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4028" y="5143536"/>
            <a:ext cx="81546" cy="815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49856717-A6F6-445E-A1E6-9C115C1F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3774" y="5803013"/>
            <a:ext cx="89461" cy="8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0A415044-6133-4EE6-8313-56E97BCA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167" y="5734313"/>
            <a:ext cx="48516" cy="485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ED3742C0-36A1-42DC-AA27-CC7AE900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551" y="5326373"/>
            <a:ext cx="66662" cy="666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33DB9B64-B89A-4D6A-A7B0-79F2947E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269" y="5901580"/>
            <a:ext cx="99447" cy="994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C2CC6EBA-D2A6-424A-8A2B-FF80C6ED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789" y="5981972"/>
            <a:ext cx="102423" cy="1024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36E9B6C4-9AEE-450E-9C8E-33A6A806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3581" y="5956487"/>
            <a:ext cx="107340" cy="107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DDA897FF-461C-4A2C-AA00-1C837E47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989" y="5280612"/>
            <a:ext cx="69746" cy="697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62B09012-1286-4CB1-A9B9-0F06FD04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481" y="5276735"/>
            <a:ext cx="97593" cy="975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C9E649AB-05DB-4D9D-BA8A-2802DFF8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401" y="5400343"/>
            <a:ext cx="70231" cy="702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B298084C-03E5-42E6-A803-31D5CA8B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9093" y="6040373"/>
            <a:ext cx="95608" cy="95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E9CC3DFA-95D3-4F77-B286-DCF7C745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3275" y="5718863"/>
            <a:ext cx="53076" cy="530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5F632356-D246-455B-8106-30636D30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041" y="5758201"/>
            <a:ext cx="50584" cy="5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F7159526-2174-4382-87A5-4BCD40CD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1110" y="5613874"/>
            <a:ext cx="43682" cy="436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1F6F07C0-1130-4A8E-871F-3086C316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576" y="5674820"/>
            <a:ext cx="64121" cy="641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3551959B-3DA3-45FD-8715-3B98125D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032" y="5396525"/>
            <a:ext cx="67449" cy="674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E80CA437-4948-4BF4-8462-EC6F753F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7948" y="5167929"/>
            <a:ext cx="85419" cy="854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529ABD19-ACEC-4A2E-854F-56C15EB4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7666" y="5377967"/>
            <a:ext cx="73578" cy="735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C7A58DBE-1379-4C8C-BD22-479DCA3D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532" y="5482128"/>
            <a:ext cx="63678" cy="636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A18C2168-A636-4C74-8F11-EF371241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012" y="5869349"/>
            <a:ext cx="87468" cy="874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A8A70CC9-3801-4942-B409-B23BD5CE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5577" y="5995117"/>
            <a:ext cx="100498" cy="1004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6A77B51C-E708-481D-B2AA-6814BF77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2695" y="5314921"/>
            <a:ext cx="58318" cy="583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DF0587C2-6CE6-4A76-AEBF-42091EAB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585" y="5151147"/>
            <a:ext cx="68879" cy="688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2A356CA4-0570-401F-B911-F2B3A576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5840" y="5892733"/>
            <a:ext cx="87730" cy="877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E1CE67A2-B840-4F81-872F-3AB88F49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804" y="6061717"/>
            <a:ext cx="70422" cy="704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B6BF6230-A345-47CE-8FCD-C7317C39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946" y="6047035"/>
            <a:ext cx="48703" cy="48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71AAA572-7B3A-4E47-8913-4B060D43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2610" y="5304177"/>
            <a:ext cx="54325" cy="5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013E8DC9-4D36-4081-A42E-C29FCE3D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264" y="5155528"/>
            <a:ext cx="42837" cy="428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C7372B25-1B6B-41CE-A484-CC6F4C9E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252" y="5990027"/>
            <a:ext cx="45990" cy="45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E7286D94-9E02-47C1-82CD-75E24972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044" y="5396261"/>
            <a:ext cx="95533" cy="95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F8AAFACD-D59B-4981-A3F6-FDEEC38A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3107" y="5630068"/>
            <a:ext cx="70816" cy="708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881C7163-6F6F-4404-90B8-9AF80113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786" y="5213485"/>
            <a:ext cx="79789" cy="797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84923FFD-B986-4A7C-82E7-5511DE53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48" y="5468899"/>
            <a:ext cx="78002" cy="78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0097E07F-938D-4675-9412-AD91DB4F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739" y="5851798"/>
            <a:ext cx="97206" cy="972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B7DCCD15-8B1B-42F8-BEE4-11D426DF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827" y="5817670"/>
            <a:ext cx="92950" cy="9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37C5F91F-080A-439B-A2DE-B6EA8188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154" y="5755452"/>
            <a:ext cx="96985" cy="969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A0B026D0-7938-4800-AFA2-D9D2812F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17" y="6054082"/>
            <a:ext cx="64860" cy="64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345253D2-C4D8-41D1-8989-CE9D3C87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3532" y="5235597"/>
            <a:ext cx="104524" cy="1045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17F26D86-D9BD-4F04-BC4D-E627B196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0268" y="5555834"/>
            <a:ext cx="95330" cy="953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42E5B9FA-C461-4181-B3AF-EF224CD3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120" y="5536831"/>
            <a:ext cx="69025" cy="69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A78E54FA-188D-43F5-8AEF-DBA637C6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307" y="5567526"/>
            <a:ext cx="57361" cy="573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A0FB8B03-0BAE-459A-86FA-279D822A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3171" y="6036856"/>
            <a:ext cx="92087" cy="920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F5E43F52-97A1-4EAF-B05F-88DA84C5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432" y="5466858"/>
            <a:ext cx="52553" cy="525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7C56FD47-99A0-48DC-AB2E-045357B7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184" y="5179921"/>
            <a:ext cx="46710" cy="467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EF29EBC5-E159-41C2-A12C-425D354F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019" y="5564981"/>
            <a:ext cx="106307" cy="1063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1C530454-A997-4465-BA34-CF185729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408" y="5144076"/>
            <a:ext cx="110694" cy="1106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2212D821-F469-4647-8E9E-3409CA36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3568" y="5239594"/>
            <a:ext cx="91622" cy="91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00A84070-72F4-4888-966E-35854495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94" y="5307022"/>
            <a:ext cx="80839" cy="808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4BA8E73C-EA42-4232-9256-D52B1FAE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454" y="5735297"/>
            <a:ext cx="110097" cy="1100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F52FFC95-BBC2-492F-BA5B-A55FF09E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9742" y="5979908"/>
            <a:ext cx="58746" cy="587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D62B6B23-3D62-452B-AA24-1B113C02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677" y="5496341"/>
            <a:ext cx="110934" cy="1109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B5CFDB92-A659-4B8B-8614-479CC8C3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602" y="5606984"/>
            <a:ext cx="69813" cy="69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5211C41A-5461-4A55-AA69-AEE6FE37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1861" y="5767325"/>
            <a:ext cx="43332" cy="433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24A80FF0-B0A6-4B7A-891A-4F00D6C1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049" y="5432850"/>
            <a:ext cx="63242" cy="632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19FD665E-14DC-4C50-91FC-2AD8B5EC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258" y="5925949"/>
            <a:ext cx="85091" cy="850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328657D8-3986-4FDC-B085-BADFCAB1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6332" y="5768657"/>
            <a:ext cx="64431" cy="64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39FC858F-56A2-469D-A868-A6FEAF8B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241" y="5349913"/>
            <a:ext cx="109212" cy="1092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48A2386B-A9D1-4A0A-9C6C-780ED971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1702" y="5992104"/>
            <a:ext cx="98782" cy="987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2464A2EE-00E8-4124-B1BA-79F1CDEC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5060" y="5283818"/>
            <a:ext cx="64893" cy="64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51CB17E4-DB50-414E-8695-6982A019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784" y="5480891"/>
            <a:ext cx="39294" cy="392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4AB724A8-3620-46B9-9C54-6A13BBD6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8217" y="6038813"/>
            <a:ext cx="53735" cy="537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A8896106-84E3-457A-B5BF-D7A5A173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703" y="5479619"/>
            <a:ext cx="63767" cy="637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C4495020-B359-4809-907B-E9F8CA0B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711" y="6059148"/>
            <a:ext cx="101139" cy="101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5775DC05-F291-4059-99DC-F7C967E8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834" y="5365987"/>
            <a:ext cx="45201" cy="452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90A2F0F0-E1B4-47EB-8348-E1AAE181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291" y="5655973"/>
            <a:ext cx="80103" cy="801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C2D07307-8324-4ABB-9FAA-0E6B4960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426" y="5451145"/>
            <a:ext cx="85196" cy="851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7E6110B3-DDB2-4B33-B2ED-71E9D998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958" y="6073889"/>
            <a:ext cx="92229" cy="922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D4BC3FAC-06C4-459F-B043-D431F4F4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980" y="6046243"/>
            <a:ext cx="56752" cy="567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1BAD53F0-B059-4AC9-8478-49C492A5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212" y="5757145"/>
            <a:ext cx="86716" cy="867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8174E662-6936-456C-B1E1-6F708B81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746" y="5595532"/>
            <a:ext cx="61470" cy="6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C49CC73A-3104-4772-8C2C-881938AB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302" y="5950341"/>
            <a:ext cx="88964" cy="889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A5EC9327-DB95-46A6-82ED-49C358AA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099" y="5343611"/>
            <a:ext cx="48548" cy="48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784AFC1B-7C85-42D8-B39A-99FC8671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605" y="6031178"/>
            <a:ext cx="48173" cy="481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25E1CBC7-0949-4EA6-A9BA-15B0EE42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289" y="5601630"/>
            <a:ext cx="43388" cy="433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7427E6C6-1CDF-4B15-9A96-5EC75F77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494" y="5377355"/>
            <a:ext cx="65943" cy="659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ADEDF0CD-7C26-466D-8610-16902E7C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690" y="5747289"/>
            <a:ext cx="71389" cy="71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FED7DABD-FF5E-4A31-8462-DD74EB8E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220" y="5233472"/>
            <a:ext cx="91475" cy="9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A08B6953-ED6A-4426-99BE-17421B42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2553" y="5158289"/>
            <a:ext cx="81751" cy="817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055D470A-BE5D-41FF-9BFF-039E9037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2158" y="5910679"/>
            <a:ext cx="73967" cy="739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0B408E70-FB8D-451A-B0E0-0ADFCD7B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378" y="6012679"/>
            <a:ext cx="99874" cy="998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BEA16AFF-592E-4F3B-B1AB-DD8EE49C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6683" y="5853227"/>
            <a:ext cx="38821" cy="388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CD0326E0-DD99-428F-87FE-758AD369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415" y="5821260"/>
            <a:ext cx="74958" cy="74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B1CE72D1-655F-40BE-A893-27BEF2E7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8044" y="5372265"/>
            <a:ext cx="87635" cy="876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98DAF709-F253-41B1-9243-BB74A3A6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2039" y="5828630"/>
            <a:ext cx="108603" cy="108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421AED31-4AD9-4BEB-9A26-882C6AB6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743" y="5712393"/>
            <a:ext cx="93411" cy="934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7F85B858-082D-4E3A-ABBC-568F61D3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499" y="5412491"/>
            <a:ext cx="73809" cy="738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1655EBD8-477F-4D5E-AF9D-35F64389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3903" y="5317862"/>
            <a:ext cx="81548" cy="81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4BB492C0-0222-4868-9DBE-BA87CCDE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172" y="5817442"/>
            <a:ext cx="72177" cy="721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A6228789-4D5E-43C3-A4D7-9419C348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900" y="5433270"/>
            <a:ext cx="77446" cy="774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5912546D-8EA1-45B3-9E8E-AC0ADB2F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6431" y="5487734"/>
            <a:ext cx="52905" cy="529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5F08C022-1E93-474E-8EF0-BCDB4704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108" y="5436320"/>
            <a:ext cx="106505" cy="1065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E0AFA280-B9CA-4F62-A6AC-EA20C337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527" y="5667965"/>
            <a:ext cx="41395" cy="413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F231F1EF-258A-4F33-BF06-CBFB3CCA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904" y="5638159"/>
            <a:ext cx="41725" cy="41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C235908E-6C81-40D0-8111-AD880513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834" y="5735837"/>
            <a:ext cx="63046" cy="630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381541C0-8BD9-4606-944A-85216ECF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9536" y="5416489"/>
            <a:ext cx="60906" cy="609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3CACC697-2BAA-42E0-B2FE-B00DC999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729" y="6002500"/>
            <a:ext cx="67058" cy="670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8B4529D8-A023-402D-9D53-0BD37699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2505" y="6015908"/>
            <a:ext cx="113249" cy="1132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CC95D8BC-B782-4971-B1DB-4259599B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6460" y="5845652"/>
            <a:ext cx="78830" cy="788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EF430F8C-93DE-4E1F-8590-6188DD5C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936" y="5880669"/>
            <a:ext cx="71752" cy="717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CBE26801-F391-41AE-B529-DA1F6970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403" y="5576445"/>
            <a:ext cx="47565" cy="475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7CE636CC-7F14-424C-968B-C0441752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204" y="5321919"/>
            <a:ext cx="114217" cy="1142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67E38091-2B28-46BD-AEE5-F20B14C2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8808" y="5506028"/>
            <a:ext cx="74860" cy="74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08C66880-BB6A-4FAA-A504-079073B0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1684" y="5584260"/>
            <a:ext cx="113643" cy="1136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95FDAFBF-3464-4F3B-8D41-50A9BC5C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300" y="5945552"/>
            <a:ext cx="109916" cy="1099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EB15E9B8-8B12-4DC2-B439-E5EF0C57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750" y="6045391"/>
            <a:ext cx="95430" cy="95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BD718FF3-79D3-4180-959E-95D88AD7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878" y="5339265"/>
            <a:ext cx="101934" cy="1019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FE4E79A0-8067-4E8C-9A96-19D0195F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778" y="5149562"/>
            <a:ext cx="84978" cy="849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886DAE25-9883-4A38-BAD8-E5E1A28F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919" y="5865219"/>
            <a:ext cx="76312" cy="7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5049ED20-2DA3-4619-A03C-6ED34818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893" y="6008274"/>
            <a:ext cx="107687" cy="1076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49FF7B9B-9401-4B09-B07C-D321A80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046" y="5967663"/>
            <a:ext cx="58452" cy="584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EAD9AB03-7587-4C4A-8C3C-03EF3BA5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9595" y="5198876"/>
            <a:ext cx="112757" cy="1127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9C906037-6C5E-4C53-B368-FAC52DC0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260" y="5957748"/>
            <a:ext cx="73752" cy="737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1FAD415E-93C7-485F-A963-87353AAA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0259" y="5832868"/>
            <a:ext cx="49388" cy="493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B56BB557-E591-4749-AE6A-AAF29505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935" y="5213173"/>
            <a:ext cx="71414" cy="714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09F0EC5B-5D72-416A-B30C-E6F949B7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7009" y="5421050"/>
            <a:ext cx="95381" cy="953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0EA8AA73-E936-470B-B9EE-FB867288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8698" y="5911988"/>
            <a:ext cx="76837" cy="768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0E712904-2FB6-497D-AC33-9A53D08D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346" y="5208023"/>
            <a:ext cx="47534" cy="475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0B8F0697-2FFF-4B1B-A71C-E98EAF55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547" y="5564993"/>
            <a:ext cx="39221" cy="392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1E04260C-FC7E-42BA-B5CC-5AF557CA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520" y="5504936"/>
            <a:ext cx="83649" cy="836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93447176-133C-4863-AB5D-FB29ADF6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984" y="5416789"/>
            <a:ext cx="60167" cy="601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E2F8A773-7EE5-45FF-A4B2-F5E5051B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031" y="5689489"/>
            <a:ext cx="76725" cy="7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35FEE5E1-5DC6-457E-80A4-135C7EA9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9257" y="5778524"/>
            <a:ext cx="88873" cy="888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1DCD4BE8-B2FC-4C21-BE8D-5D85DADA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004" y="6072833"/>
            <a:ext cx="52161" cy="521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21283182-2B01-49A3-841B-A23487BD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3741" y="6027901"/>
            <a:ext cx="74540" cy="745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DBEACFC6-4675-405B-929B-EA5B3E92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813" y="6032666"/>
            <a:ext cx="111559" cy="1115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D54B4E09-D97C-418F-9D1F-9B2D4D75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813" y="5542617"/>
            <a:ext cx="42569" cy="425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DF"/>
          </a:solidFill>
          <a:ln xmlns:a="http://schemas.openxmlformats.org/drawingml/2006/main" w="0">
            <a:noFill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D565EE6D-7186-4E77-930D-F5C11058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911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Ξ_M = {ξᵢ}ᵢ₌₁ᴹ</a:t>
            </a:r>
          </a:p>
        </p:txBody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8B74AE1F-F307-4CC1-BBD9-3987B5CE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43675"/>
            <a:ext cx="312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作为共享潜变量分布的经验近似，</a:t>
            </a:r>
          </a:p>
          <a:p xmlns:a="http://schemas.openxmlformats.org/drawingml/2006/main">
            <a:pPr algn="ctr">
              <a:defRPr sz="1275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供后续条件分布评估使用</a:t>
            </a:r>
          </a:p>
        </p:txBody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86D6C964-CD9A-4E52-AE4D-8525C1A5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1381125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基于共享的潜变量总体，通过确定性映射传输质量，</a:t>
            </a:r>
          </a:p>
          <a:p xmlns:a="http://schemas.openxmlformats.org/drawingml/2006/main">
            <a:pPr algn="ctr">
              <a:defRPr sz="1350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获得 p(y|X) 的近似并进行预测</a:t>
            </a:r>
          </a:p>
        </p:txBody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4CC2E18F-A096-43DB-A5B4-836D3130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057400"/>
            <a:ext cx="4533900" cy="2847975"/>
          </a:xfrm>
          <a:prstGeom xmlns:a="http://schemas.openxmlformats.org/drawingml/2006/main" prst="roundRect">
            <a:avLst>
              <a:gd name="adj" fmla="val 4682"/>
            </a:avLst>
          </a:prstGeom>
          <a:solidFill xmlns:a="http://schemas.openxmlformats.org/drawingml/2006/main">
            <a:srgbClr val="FFFBF6"/>
          </a:solidFill>
          <a:ln xmlns:a="http://schemas.openxmlformats.org/drawingml/2006/main" w="11430">
            <a:solidFill>
              <a:srgbClr val="F3B26D"/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F8C2623E-E662-459A-8F3E-1F936E53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171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3E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B3E18"/>
                </a:solidFill>
                <a:latin typeface="Microsoft YaHei"/>
                <a:ea typeface="Microsoft YaHei"/>
                <a:cs typeface="Microsoft YaHei"/>
              </a:rPr>
              <a:t>给定新条件  X₍*₎</a:t>
            </a:r>
          </a:p>
        </p:txBody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0B702E4C-0BB2-4249-BECF-2B0E8771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971800"/>
            <a:ext cx="6477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8BBCE8"/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A241A7B8-CBF1-4FEE-B98B-0E126341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1051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2243C"/>
                </a:solidFill>
                <a:latin typeface="Times New Roman"/>
                <a:ea typeface="Times New Roman"/>
                <a:cs typeface="Times New Roman"/>
              </a:rPr>
              <a:t>X₍*₎</a:t>
            </a:r>
          </a:p>
        </p:txBody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D428720B-3318-4036-8ED6-88FCFAED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743325"/>
            <a:ext cx="971550" cy="1028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8BBCE8"/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A088B482-74D6-4EDC-8FCB-CF964076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819525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潜变量总体</a:t>
            </a:r>
          </a:p>
          <a:p xmlns:a="http://schemas.openxmlformats.org/drawingml/2006/main">
            <a:pPr algn="ctr">
              <a:defRPr sz="1275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Ξ_M</a:t>
            </a:r>
          </a:p>
        </p:txBody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DCE773FA-C2B2-461B-8994-EB5A249D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3053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DF3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17472872-6EFD-435C-9578-A5669B86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3053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DF3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B72E599F-9999-4824-A50A-79D4BB99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3053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DF3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8FDBD35F-BEA4-457B-B9BE-83E2360B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43053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DF3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4F8605FF-96A2-4B7F-8D85-E9EA9D30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5053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8E4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742FC161-A301-44D9-B473-5446F773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5053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8E4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2E6E12C6-6577-4019-ACA5-4BBF27FD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5053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8E4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47D43F21-2E31-4EFE-9AFA-C47A9A7C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45053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8E4"/>
          </a:solidFill>
          <a:ln xmlns:a="http://schemas.openxmlformats.org/drawingml/2006/main" w="7620">
            <a:solidFill>
              <a:srgbClr val="5D92C4"/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8A5B3152-B90C-41D6-A6A3-5107EBDA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2686050"/>
            <a:ext cx="1933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B3E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B3E18"/>
                </a:solidFill>
                <a:latin typeface="Microsoft YaHei"/>
                <a:ea typeface="Microsoft YaHei"/>
                <a:cs typeface="Microsoft YaHei"/>
              </a:rPr>
              <a:t>固定解码器（已训练）</a:t>
            </a:r>
          </a:p>
        </p:txBody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6E494E13-9567-4489-B26A-2C433BC8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886075"/>
            <a:ext cx="1257300" cy="1524000"/>
          </a:xfrm>
          <a:custGeom xmlns:a="http://schemas.openxmlformats.org/drawingml/2006/main">
            <a:pathLst>
              <a:path w="1257300" h="1524000">
                <a:moveTo>
                  <a:pt x="0" y="0"/>
                </a:moveTo>
                <a:lnTo>
                  <a:pt x="1257300" y="314325"/>
                </a:lnTo>
                <a:lnTo>
                  <a:pt x="1257300" y="1209675"/>
                </a:lnTo>
                <a:lnTo>
                  <a:pt x="0" y="1524000"/>
                </a:lnTo>
                <a:close/>
              </a:path>
            </a:pathLst>
          </a:custGeom>
          <a:solidFill xmlns:a="http://schemas.openxmlformats.org/drawingml/2006/main">
            <a:srgbClr val="FFB17B"/>
          </a:solidFill>
          <a:ln xmlns:a="http://schemas.openxmlformats.org/drawingml/2006/main" w="11430">
            <a:solidFill>
              <a:srgbClr val="D96A2F"/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5972A76F-EF72-4457-90A6-5E993B24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33718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13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13214"/>
                </a:solidFill>
                <a:latin typeface="Microsoft YaHei"/>
                <a:ea typeface="Microsoft YaHei"/>
                <a:cs typeface="Microsoft YaHei"/>
              </a:rPr>
              <a:t>解码器</a:t>
            </a:r>
          </a:p>
          <a:p xmlns:a="http://schemas.openxmlformats.org/drawingml/2006/main">
            <a:pPr algn="ctr">
              <a:defRPr sz="1350" b="1">
                <a:solidFill>
                  <a:srgbClr val="713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13214"/>
                </a:solidFill>
                <a:latin typeface="Microsoft YaHei"/>
                <a:ea typeface="Microsoft YaHei"/>
                <a:cs typeface="Microsoft YaHei"/>
              </a:rPr>
              <a:t>Tₓ*(ξ)</a:t>
            </a:r>
          </a:p>
        </p:txBody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9D0BEDF0-59F3-49F3-8669-53D85BF7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3257550"/>
            <a:ext cx="647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2243C"/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5C2D3E6E-4A33-4A00-9426-E24A69A6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4257675"/>
            <a:ext cx="323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2243C"/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202852B2-3A2F-43F2-ABF3-33B32E19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3638550"/>
            <a:ext cx="323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2243C"/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C88B1B73-12AB-4B6D-BB19-C4ACD2FE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3162300"/>
            <a:ext cx="1304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ŷ* = Tₓ*(ξ)</a:t>
            </a:r>
          </a:p>
        </p:txBody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37E0BA88-32E3-4F49-8D36-C57BC152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9435" y="3485385"/>
            <a:ext cx="57370" cy="573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48C1B79E-670F-4B75-87B6-8EEFEDF8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6196" y="3762065"/>
            <a:ext cx="67989" cy="679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7ACECDF4-F5EE-411D-8E49-FB01C9F9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2359" y="3929296"/>
            <a:ext cx="101716" cy="1017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B5872234-614C-4F01-9AF8-175CB8D5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3426" y="3609252"/>
            <a:ext cx="114099" cy="114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67870744-B831-4B99-9BA5-53C41249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8895" y="3719510"/>
            <a:ext cx="60690" cy="60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B5F771F2-32E1-4872-8689-642896D2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2267" y="3882243"/>
            <a:ext cx="49437" cy="494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DE9F71A4-D362-4FD2-A8C7-35A88735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3041" y="3719626"/>
            <a:ext cx="112091" cy="1120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AD9069D3-C196-4433-82A5-F7E11D42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4719" y="3501536"/>
            <a:ext cx="51802" cy="518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4AAFB5B8-EBEE-46D2-9389-00062E1D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6799" y="3497846"/>
            <a:ext cx="52721" cy="52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5CA3BC61-5A7C-41FB-9FAC-8592AF58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4782" y="3330731"/>
            <a:ext cx="70396" cy="703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47389B28-1305-41C9-8B82-A2D48921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4167" y="3917768"/>
            <a:ext cx="60378" cy="603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8792E7CC-BF87-4DA8-A95F-BEB6A61A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4456" y="3585730"/>
            <a:ext cx="54417" cy="544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21C4F35C-1C16-4465-89C1-EF1C5DD2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1147" y="3899893"/>
            <a:ext cx="84263" cy="842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F9E6D29E-4FC3-429F-A751-795DA1F8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741" y="3834731"/>
            <a:ext cx="105466" cy="1054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9C8AB00B-502D-4334-9B04-1797BED5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7738" y="3660121"/>
            <a:ext cx="73576" cy="735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F55D7EF0-64DD-41E3-AAAC-56C0BE7C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0638" y="3645935"/>
            <a:ext cx="96543" cy="96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B3A09FBE-A7DC-4B15-9F7E-EEF0B9E2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7940" y="3414351"/>
            <a:ext cx="53716" cy="537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455C598D-38EC-4471-AB85-F1DE562A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3145" y="3882942"/>
            <a:ext cx="53047" cy="530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FC5FF681-6183-49B5-9006-B7EFCE55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5753" y="3378484"/>
            <a:ext cx="50085" cy="500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1A7831E2-6098-493D-8CD8-62FC76E7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9264" y="3466252"/>
            <a:ext cx="76579" cy="765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EBE9506A-D8DD-42D8-8D44-9D145F9F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3177" y="3768420"/>
            <a:ext cx="88081" cy="880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2B2C2A96-E799-410D-98A6-0029865B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4994" y="3907164"/>
            <a:ext cx="40139" cy="40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9D517F9A-25FE-4B4C-8301-AA37DEE4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6213" y="3504659"/>
            <a:ext cx="40705" cy="407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AA959E7C-B72D-4E39-917D-3ABB46CD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8335" y="3478480"/>
            <a:ext cx="45327" cy="453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EB263291-8E0C-4222-9F78-73617AE7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6859" y="3450801"/>
            <a:ext cx="85756" cy="857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B1FFF763-A225-479F-B2E8-36DFD010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7287" y="3691498"/>
            <a:ext cx="41343" cy="41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44BDDFFB-872E-4B06-87E0-6C105C0A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7117" y="3822745"/>
            <a:ext cx="96236" cy="962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08B69E6C-8FEF-4DB9-9DF0-0CFFEBA7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3850" y="3466718"/>
            <a:ext cx="53586" cy="535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258CC8AD-2F14-4B0F-8DE7-0FC76A4D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2985" y="3540992"/>
            <a:ext cx="97543" cy="97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4CF6DC47-726C-4388-9E50-3C4D00F5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2024" y="3667742"/>
            <a:ext cx="107457" cy="1074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AA0AE9E9-E3F3-4648-B08D-165B9DC1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6465" y="3469142"/>
            <a:ext cx="38878" cy="388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A625C9AE-33FB-483F-B1B6-4502A689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1809" y="3862768"/>
            <a:ext cx="75956" cy="759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936D9001-531A-47EF-A5A7-A78077C2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9556" y="3823095"/>
            <a:ext cx="98041" cy="980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C43FFC34-EDC9-46CB-978D-2D7202DD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1206" y="3619997"/>
            <a:ext cx="60683" cy="606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B5435DBF-2DCA-44CB-9D7B-D4DBECAF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6258" y="3523351"/>
            <a:ext cx="71831" cy="718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FD067721-2BCE-44CA-89A1-8A741E07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0213" y="3803029"/>
            <a:ext cx="87037" cy="870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D86AD8FD-EF77-42F6-8864-1B413F93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0571" y="3433509"/>
            <a:ext cx="61850" cy="61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ECC81D36-80FC-4187-AA65-7BAB8E73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2832" y="3332364"/>
            <a:ext cx="104219" cy="1042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0012D928-46A1-4EEE-86C4-99BBE1CA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6495" y="3769470"/>
            <a:ext cx="93496" cy="934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29812F20-0683-4EAC-8205-6DD96485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5062" y="3719301"/>
            <a:ext cx="61429" cy="614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9074FB13-2E3C-4500-A0AE-70F4A05D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6031" y="3451734"/>
            <a:ext cx="39770" cy="39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9CFAC975-A1C2-48A7-8D37-8BE8DF54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4903" y="3884342"/>
            <a:ext cx="60267" cy="602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6C3D73B2-1306-4558-9090-89FC93F6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3177" y="3343900"/>
            <a:ext cx="78471" cy="78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CA6B86AD-2E45-457E-BBED-8457B1C1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2355" y="3395685"/>
            <a:ext cx="49933" cy="499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13CC3613-361D-4771-BD33-2C2F8DAB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9935" y="3661870"/>
            <a:ext cx="82601" cy="826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DE2D1966-5238-484A-9C52-205087A2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3418" y="3764630"/>
            <a:ext cx="55826" cy="55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A97DAAE6-942F-49A6-BC5D-E2804182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2303" y="3326142"/>
            <a:ext cx="77558" cy="775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F32686B5-B164-46F3-9709-FFFEB057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8092" y="3911679"/>
            <a:ext cx="103347" cy="103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E63D56A6-6C9B-477E-A613-C7B4507A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0283" y="3848017"/>
            <a:ext cx="88743" cy="887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B0970B59-EAC6-4D39-83AC-8DACE7AA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6377" y="3405030"/>
            <a:ext cx="65496" cy="654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F4D450E3-BA1B-49CD-8BA4-87905F29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9874" y="3500295"/>
            <a:ext cx="65356" cy="653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F5786B91-7B19-4B27-A7A4-56FAD6ED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0274" y="3755984"/>
            <a:ext cx="43873" cy="438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6F72FCE7-906C-4150-9E02-89F3C54A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5076" y="3794275"/>
            <a:ext cx="108997" cy="108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3583FE61-BBF0-4B28-9BB7-0FD04177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7781" y="3885041"/>
            <a:ext cx="63877" cy="63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62DDF89B-8E95-4F60-B4DE-C36940AE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5889" y="3650458"/>
            <a:ext cx="92665" cy="926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AD530B47-D79B-4BDE-B557-518BD1B7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900" y="3360401"/>
            <a:ext cx="74710" cy="747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6B82FB56-78E2-4051-AF65-8227781C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8314" y="3932444"/>
            <a:ext cx="41761" cy="417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28FC47AA-0FB0-494E-8AC3-9C2F8CD8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3630" y="3693364"/>
            <a:ext cx="101770" cy="101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3C925460-03FE-4962-B66C-8F02D1FD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49" y="3560733"/>
            <a:ext cx="57885" cy="57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1522E95B-39DD-4201-864A-1AD3A8A5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1971" y="3804429"/>
            <a:ext cx="94257" cy="942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6C21D0DA-B795-40D5-BD17-A9DF5715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7995" y="3398925"/>
            <a:ext cx="90237" cy="902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812E3F72-C099-4CE2-933E-5CC781A3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3923" y="3909497"/>
            <a:ext cx="77573" cy="7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C982D3D7-DF14-4765-8FB1-2FDDA127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253" y="3662919"/>
            <a:ext cx="88016" cy="8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3BEDC3E8-6EAD-440E-A763-EC709A7B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5486" y="3576768"/>
            <a:ext cx="77116" cy="771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1F711D76-E138-4336-BDD2-A02AB354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0122" y="3920916"/>
            <a:ext cx="76623" cy="766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314AB55C-979D-4043-8378-C8C85ADA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4660" y="3669841"/>
            <a:ext cx="42087" cy="420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2E191FF8-4D89-4A4A-905F-CFC93720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6601" y="3741116"/>
            <a:ext cx="81458" cy="814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D569E817-2E73-488F-8E66-61083244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9445" y="3756917"/>
            <a:ext cx="74086" cy="740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351F35AC-2EA2-4F42-A732-3E61E03C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2692" y="3339419"/>
            <a:ext cx="51721" cy="51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3DEDE83-D391-4B24-9F2C-769400C7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1842" y="3406197"/>
            <a:ext cx="46113" cy="461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31B51D91-920E-45EF-9099-D75E8278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2394" y="3579425"/>
            <a:ext cx="89012" cy="890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9059A72E-3880-4A66-990F-6A60BC1E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3849" y="3481278"/>
            <a:ext cx="59767" cy="597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FFC6599B-9997-4050-A84D-F21A71EA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1707" y="3381633"/>
            <a:ext cx="66330" cy="663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EAFC8F59-35AC-4D72-9BDF-8BB91BD4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1468" y="3550363"/>
            <a:ext cx="64250" cy="64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9CDD0A37-ED7F-4D0A-9AF8-221D616F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8632" y="3609644"/>
            <a:ext cx="85276" cy="852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006E499C-DFE0-4F6E-87A7-82CE94DD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4698" y="3829351"/>
            <a:ext cx="84960" cy="84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D19EE3C9-F1F9-4060-A282-5E3D373E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167" y="3831658"/>
            <a:ext cx="95050" cy="9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D94B2665-0070-4CFE-B337-F11A287D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539" y="3886441"/>
            <a:ext cx="71097" cy="710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E6D579A8-530D-447E-BB56-F18F56DC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3313" y="3615874"/>
            <a:ext cx="44852" cy="448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A0954F34-9A29-4B59-AA4D-627B1D90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7991" y="3937534"/>
            <a:ext cx="48063" cy="480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B44F0355-1B32-4CA2-BC28-25697909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3071" y="3825894"/>
            <a:ext cx="112481" cy="1124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32F35E32-85F6-4EC4-A4EA-A5E79AA1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054" y="3550830"/>
            <a:ext cx="41256" cy="412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B3441144-4707-437E-B72A-C489422C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8440" y="3382216"/>
            <a:ext cx="94738" cy="947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521FDBB0-A48A-434F-8C5E-6468AC03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1728" y="3589928"/>
            <a:ext cx="76078" cy="760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D099D5B3-68ED-4C33-94EA-262E83D7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1419" y="3796141"/>
            <a:ext cx="93223" cy="932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E22"/>
          </a:solidFill>
          <a:ln xmlns:a="http://schemas.openxmlformats.org/drawingml/2006/main" w="0">
            <a:noFill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904AE081-2CF7-40B7-9AA0-FDA0E27D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42672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{ŷ*ᵢ}ᵢ₌₁ᴹ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26C54546-65E2-470F-A746-5A2E6AED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057775"/>
            <a:ext cx="4533900" cy="2114550"/>
          </a:xfrm>
          <a:prstGeom xmlns:a="http://schemas.openxmlformats.org/drawingml/2006/main" prst="roundRect">
            <a:avLst>
              <a:gd name="adj" fmla="val 6306"/>
            </a:avLst>
          </a:prstGeom>
          <a:solidFill xmlns:a="http://schemas.openxmlformats.org/drawingml/2006/main">
            <a:srgbClr val="FFFBF6"/>
          </a:solidFill>
          <a:ln xmlns:a="http://schemas.openxmlformats.org/drawingml/2006/main" w="11430">
            <a:solidFill>
              <a:srgbClr val="F3B26D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5535F497-5591-40B2-9747-9C1A626B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51720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3E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B3E18"/>
                </a:solidFill>
                <a:latin typeface="Microsoft YaHei"/>
                <a:ea typeface="Microsoft YaHei"/>
                <a:cs typeface="Microsoft YaHei"/>
              </a:rPr>
              <a:t>条件分布的近似与预测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8F97CAD0-2E4B-412F-8CE0-5BDB0331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55816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p(y|X₍*₎) ≈  1/M  ∑  δ(y − Tₓ*(ξᵢ))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BB1B9ED8-4344-4A6D-B6CC-2744B467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6972300"/>
            <a:ext cx="2009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2243C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C707D141-ACE2-4576-B49C-6780F744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6238875"/>
            <a:ext cx="953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2243C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CCDD053B-196B-42F3-AF01-4827E8F6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34365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密</a:t>
            </a:r>
          </a:p>
          <a:p xmlns:a="http://schemas.openxmlformats.org/drawingml/2006/main">
            <a:pPr algn="ctr">
              <a:defRPr sz="1200" b="1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度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AD6AD7F5-21A3-4D9B-B778-9C15A752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8975" y="69627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6365C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4B6A3B6E-F7F9-408D-A361-15E7DF0F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6305550"/>
            <a:ext cx="1914525" cy="647700"/>
          </a:xfrm>
          <a:custGeom xmlns:a="http://schemas.openxmlformats.org/drawingml/2006/main">
            <a:pathLst>
              <a:path w="1914525" h="647700">
                <a:moveTo>
                  <a:pt x="0" y="647700"/>
                </a:moveTo>
                <a:lnTo>
                  <a:pt x="257175" y="609600"/>
                </a:lnTo>
                <a:lnTo>
                  <a:pt x="447675" y="552450"/>
                </a:lnTo>
                <a:lnTo>
                  <a:pt x="581025" y="400050"/>
                </a:lnTo>
                <a:lnTo>
                  <a:pt x="676275" y="323850"/>
                </a:lnTo>
                <a:lnTo>
                  <a:pt x="781050" y="371475"/>
                </a:lnTo>
                <a:lnTo>
                  <a:pt x="885825" y="476250"/>
                </a:lnTo>
                <a:lnTo>
                  <a:pt x="990600" y="457200"/>
                </a:lnTo>
                <a:lnTo>
                  <a:pt x="1076325" y="171450"/>
                </a:lnTo>
                <a:lnTo>
                  <a:pt x="1152525" y="19050"/>
                </a:lnTo>
                <a:lnTo>
                  <a:pt x="1247775" y="0"/>
                </a:lnTo>
                <a:lnTo>
                  <a:pt x="1362075" y="209550"/>
                </a:lnTo>
                <a:lnTo>
                  <a:pt x="1495425" y="381000"/>
                </a:lnTo>
                <a:lnTo>
                  <a:pt x="1666875" y="533400"/>
                </a:lnTo>
                <a:lnTo>
                  <a:pt x="1876425" y="628650"/>
                </a:lnTo>
                <a:lnTo>
                  <a:pt x="1914525" y="647700"/>
                </a:lnTo>
                <a:close/>
              </a:path>
            </a:pathLst>
          </a:custGeom>
          <a:solidFill xmlns:a="http://schemas.openxmlformats.org/drawingml/2006/main">
            <a:srgbClr val="FFD4A5"/>
          </a:solidFill>
          <a:ln xmlns:a="http://schemas.openxmlformats.org/drawingml/2006/main" w="11430">
            <a:solidFill>
              <a:srgbClr val="F08842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AAD4865D-60E2-4008-AC93-78ADF81C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5457825"/>
            <a:ext cx="1362075" cy="15906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0478">
            <a:solidFill>
              <a:srgbClr val="F29A67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A3E83E46-BDE8-47C9-B5EC-0512AB32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5572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B3E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B3E18"/>
                </a:solidFill>
                <a:latin typeface="Microsoft YaHei"/>
                <a:ea typeface="Microsoft YaHei"/>
                <a:cs typeface="Microsoft YaHei"/>
              </a:rPr>
              <a:t>应用示例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498EF00D-01F4-41AA-AB48-7B1B1EC3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5905500"/>
            <a:ext cx="114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• 条件分布估计</a:t>
            </a:r>
          </a:p>
          <a:p xmlns:a="http://schemas.openxmlformats.org/drawingml/2006/main">
            <a:pPr algn="l">
              <a:defRPr sz="1125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• 不确定性量化</a:t>
            </a:r>
          </a:p>
          <a:p xmlns:a="http://schemas.openxmlformats.org/drawingml/2006/main">
            <a:pPr algn="l">
              <a:defRPr sz="1125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• 统计性质分析</a:t>
            </a:r>
          </a:p>
          <a:p xmlns:a="http://schemas.openxmlformats.org/drawingml/2006/main">
            <a:pPr algn="l">
              <a:defRPr sz="1125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365C"/>
                </a:solidFill>
                <a:latin typeface="Microsoft YaHei"/>
                <a:ea typeface="Microsoft YaHei"/>
                <a:cs typeface="Microsoft YaHei"/>
              </a:rPr>
              <a:t>……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E2917AC3-8CEB-4105-84F4-B72065FD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572375"/>
            <a:ext cx="16516350" cy="704850"/>
          </a:xfrm>
          <a:prstGeom xmlns:a="http://schemas.openxmlformats.org/drawingml/2006/main" prst="roundRect">
            <a:avLst>
              <a:gd name="adj" fmla="val 17568"/>
            </a:avLst>
          </a:prstGeom>
          <a:solidFill xmlns:a="http://schemas.openxmlformats.org/drawingml/2006/main">
            <a:srgbClr val="E5F0FC"/>
          </a:solidFill>
          <a:ln xmlns:a="http://schemas.openxmlformats.org/drawingml/2006/main" w="13335">
            <a:solidFill>
              <a:srgbClr val="5DA4DF"/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6ADB0169-34C8-4163-9A4C-FADBC6FA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772477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6365C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16365C"/>
                </a:solidFill>
                <a:latin typeface="SimSun"/>
                <a:ea typeface="SimSun"/>
                <a:cs typeface="SimSun"/>
              </a:rPr>
              <a:t>观测数据  (X, y)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D5369776-7AAB-4DB7-9C48-7C341CA1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791450"/>
            <a:ext cx="61912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A9DD"/>
          </a:solidFill>
          <a:ln xmlns:a="http://schemas.openxmlformats.org/drawingml/2006/main" w="0">
            <a:noFill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D588E53A-FF46-4619-8A4F-E1D2472D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77247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6365C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16365C"/>
                </a:solidFill>
                <a:latin typeface="SimSun"/>
                <a:ea typeface="SimSun"/>
                <a:cs typeface="SimSun"/>
              </a:rPr>
              <a:t>学习条件确定性映射  Tₓ(ξ)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EB0FCE9C-469B-41C9-A94C-C0C99D51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7791450"/>
            <a:ext cx="61912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A9DD"/>
          </a:solidFill>
          <a:ln xmlns:a="http://schemas.openxmlformats.org/drawingml/2006/main" w="0">
            <a:noFill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9E55C6AC-9EA2-49E0-BD21-7FB09D72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7247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6365C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16365C"/>
                </a:solidFill>
                <a:latin typeface="SimSun"/>
                <a:ea typeface="SimSun"/>
                <a:cs typeface="SimSun"/>
              </a:rPr>
              <a:t>构建共享潜变量分布  μξ（经验形式）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4B1AC750-603D-4D95-BF57-AABF9E26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7791450"/>
            <a:ext cx="61912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A9DD"/>
          </a:solidFill>
          <a:ln xmlns:a="http://schemas.openxmlformats.org/drawingml/2006/main" w="0">
            <a:noFill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8368C78B-545A-4FDC-B5B3-865B6B79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247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6365C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16365C"/>
                </a:solidFill>
                <a:latin typeface="SimSun"/>
                <a:ea typeface="SimSun"/>
                <a:cs typeface="SimSun"/>
              </a:rPr>
              <a:t>传输得到条件分布  p(y|X)</a:t>
            </a:r>
          </a:p>
        </p:txBody>
      </p:sp>
    </p:spTree>
    <p:extLst>
      <p:ext uri="{BB962C8B-B14F-4D97-AF65-F5344CB8AC3E}">
        <p14:creationId xmlns:p14="http://schemas.microsoft.com/office/powerpoint/2010/main" val="619060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2026-09-22T13:34:10.4920000Z</dcterms:created>
  <dcterms:modified xsi:type="dcterms:W3CDTF">2026-09-22T13:34:10.4920000Z</dcterms:modified>
</coreProperties>
</file>